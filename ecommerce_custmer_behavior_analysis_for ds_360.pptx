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41" r:id="rId1"/>
  </p:sldMasterIdLst>
  <p:sldIdLst>
    <p:sldId id="263" r:id="rId2"/>
    <p:sldId id="256" r:id="rId3"/>
    <p:sldId id="257" r:id="rId4"/>
    <p:sldId id="260" r:id="rId5"/>
    <p:sldId id="259" r:id="rId6"/>
    <p:sldId id="261" r:id="rId7"/>
    <p:sldId id="262" r:id="rId8"/>
    <p:sldId id="264" r:id="rId9"/>
    <p:sldId id="265" r:id="rId10"/>
    <p:sldId id="266" r:id="rId11"/>
    <p:sldId id="267" r:id="rId12"/>
    <p:sldId id="268" r:id="rId13"/>
    <p:sldId id="269" r:id="rId14"/>
    <p:sldId id="274" r:id="rId15"/>
    <p:sldId id="270" r:id="rId16"/>
    <p:sldId id="271" r:id="rId17"/>
    <p:sldId id="272" r:id="rId18"/>
    <p:sldId id="273" r:id="rId19"/>
    <p:sldId id="275" r:id="rId20"/>
    <p:sldId id="279" r:id="rId21"/>
    <p:sldId id="276" r:id="rId22"/>
    <p:sldId id="277" r:id="rId23"/>
    <p:sldId id="280" r:id="rId24"/>
    <p:sldId id="278" r:id="rId25"/>
    <p:sldId id="281"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106" d="100"/>
          <a:sy n="106" d="100"/>
        </p:scale>
        <p:origin x="67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46816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449972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115172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8/4/2025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613417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8/4/2025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042293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8/4/2025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969198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8/4/2025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897086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8/4/2025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777964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8/4/2025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825233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8/4/2025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823362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8/4/2025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020613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8/4/2025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9288878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8/4/2025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279891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smtClean="0"/>
              <a:pPr/>
              <a:t>8/4/2025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785715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smtClean="0"/>
              <a:pPr/>
              <a:t>8/4/2025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101834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996181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72743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B61BEF0D-F0BB-DE4B-95CE-6DB70DBA9567}" type="datetimeFigureOut">
              <a:rPr lang="en-US" smtClean="0"/>
              <a:pPr/>
              <a:t>8/4/2025</a:t>
            </a:fld>
            <a:endParaRPr lang="en-US" dirty="0"/>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05621542"/>
      </p:ext>
    </p:extLst>
  </p:cSld>
  <p:clrMap bg1="dk1" tx1="lt1" bg2="dk2" tx2="lt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 id="2147483753" r:id="rId12"/>
    <p:sldLayoutId id="2147483754" r:id="rId13"/>
    <p:sldLayoutId id="2147483755" r:id="rId14"/>
    <p:sldLayoutId id="2147483756" r:id="rId15"/>
    <p:sldLayoutId id="2147483757" r:id="rId16"/>
    <p:sldLayoutId id="2147483758"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C9AF4-0ECB-51E5-90DC-564B38A04FA5}"/>
              </a:ext>
            </a:extLst>
          </p:cNvPr>
          <p:cNvSpPr>
            <a:spLocks noGrp="1"/>
          </p:cNvSpPr>
          <p:nvPr>
            <p:ph type="title"/>
          </p:nvPr>
        </p:nvSpPr>
        <p:spPr>
          <a:xfrm>
            <a:off x="971650" y="1396538"/>
            <a:ext cx="6164653" cy="773083"/>
          </a:xfrm>
        </p:spPr>
        <p:txBody>
          <a:bodyPr>
            <a:normAutofit fontScale="90000"/>
          </a:bodyPr>
          <a:lstStyle/>
          <a:p>
            <a:r>
              <a:rPr lang="en-US" b="1" dirty="0"/>
              <a:t>E-Commerce  Customer Behavior</a:t>
            </a:r>
          </a:p>
        </p:txBody>
      </p:sp>
      <p:pic>
        <p:nvPicPr>
          <p:cNvPr id="6" name="Picture Placeholder 5">
            <a:extLst>
              <a:ext uri="{FF2B5EF4-FFF2-40B4-BE49-F238E27FC236}">
                <a16:creationId xmlns:a16="http://schemas.microsoft.com/office/drawing/2014/main" id="{593F548C-CCC3-0DF7-FB2F-81A2CBD9B272}"/>
              </a:ext>
            </a:extLst>
          </p:cNvPr>
          <p:cNvPicPr>
            <a:picLocks noGrp="1" noChangeAspect="1"/>
          </p:cNvPicPr>
          <p:nvPr>
            <p:ph type="pic" idx="1"/>
          </p:nvPr>
        </p:nvPicPr>
        <p:blipFill>
          <a:blip r:embed="rId2"/>
          <a:srcRect t="1234" b="1234"/>
          <a:stretch>
            <a:fillRect/>
          </a:stretch>
        </p:blipFill>
        <p:spPr>
          <a:xfrm>
            <a:off x="7529769" y="1396538"/>
            <a:ext cx="3600974" cy="3512125"/>
          </a:xfrm>
          <a:prstGeom prst="rect">
            <a:avLst/>
          </a:prstGeom>
          <a:ln>
            <a:noFill/>
          </a:ln>
          <a:effectLst>
            <a:outerShdw blurRad="190500" algn="tl" rotWithShape="0">
              <a:srgbClr val="000000">
                <a:alpha val="70000"/>
              </a:srgbClr>
            </a:outerShdw>
          </a:effectLst>
        </p:spPr>
      </p:pic>
      <p:sp>
        <p:nvSpPr>
          <p:cNvPr id="4" name="Text Placeholder 3">
            <a:extLst>
              <a:ext uri="{FF2B5EF4-FFF2-40B4-BE49-F238E27FC236}">
                <a16:creationId xmlns:a16="http://schemas.microsoft.com/office/drawing/2014/main" id="{AA1DB6E1-5DDE-BEBE-AA93-30720C4DBCC3}"/>
              </a:ext>
            </a:extLst>
          </p:cNvPr>
          <p:cNvSpPr>
            <a:spLocks noGrp="1"/>
          </p:cNvSpPr>
          <p:nvPr>
            <p:ph type="body" sz="half" idx="2"/>
          </p:nvPr>
        </p:nvSpPr>
        <p:spPr>
          <a:xfrm>
            <a:off x="642607" y="2258100"/>
            <a:ext cx="6754092" cy="2558343"/>
          </a:xfrm>
        </p:spPr>
        <p:txBody>
          <a:bodyPr>
            <a:normAutofit/>
          </a:bodyPr>
          <a:lstStyle/>
          <a:p>
            <a:r>
              <a:rPr lang="en-US" dirty="0"/>
              <a:t>In this project I analyzes customer data from an e-commerce platform to uncover behavioral patterns, preferences, and factors influencing repeat purchases. Using statistical analysis and data visualization, key insights were drawn on purchase trends, device usage, delivery times, satisfaction scores, and subscription behavior. The goal is to help optimize marketing strategies, improve customer retention, and enhance overall service experience.</a:t>
            </a:r>
          </a:p>
          <a:p>
            <a:pPr algn="r"/>
            <a:r>
              <a:rPr lang="en-US" u="sng" dirty="0"/>
              <a:t>Presented by:</a:t>
            </a:r>
          </a:p>
          <a:p>
            <a:pPr algn="r"/>
            <a:r>
              <a:rPr lang="en-US" dirty="0"/>
              <a:t>Sakib Ahmed</a:t>
            </a:r>
          </a:p>
        </p:txBody>
      </p:sp>
      <p:sp>
        <p:nvSpPr>
          <p:cNvPr id="7" name="Rectangle 6">
            <a:extLst>
              <a:ext uri="{FF2B5EF4-FFF2-40B4-BE49-F238E27FC236}">
                <a16:creationId xmlns:a16="http://schemas.microsoft.com/office/drawing/2014/main" id="{E8D6A336-2293-D35E-C7E2-2719956914C9}"/>
              </a:ext>
            </a:extLst>
          </p:cNvPr>
          <p:cNvSpPr/>
          <p:nvPr/>
        </p:nvSpPr>
        <p:spPr>
          <a:xfrm>
            <a:off x="509535" y="2169622"/>
            <a:ext cx="7088885" cy="2739044"/>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85C3A96-460D-6189-C993-31141940E1E0}"/>
              </a:ext>
            </a:extLst>
          </p:cNvPr>
          <p:cNvSpPr/>
          <p:nvPr/>
        </p:nvSpPr>
        <p:spPr>
          <a:xfrm>
            <a:off x="509536" y="1396539"/>
            <a:ext cx="10621206" cy="3512126"/>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813781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8A3CB3C-FBD6-A2FE-E5C9-DAD359CB0513}"/>
              </a:ext>
            </a:extLst>
          </p:cNvPr>
          <p:cNvSpPr/>
          <p:nvPr/>
        </p:nvSpPr>
        <p:spPr>
          <a:xfrm>
            <a:off x="785397" y="786951"/>
            <a:ext cx="10621206" cy="5284098"/>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2FC3BA8-1115-99C5-88FA-8958C06FE510}"/>
              </a:ext>
            </a:extLst>
          </p:cNvPr>
          <p:cNvSpPr txBox="1"/>
          <p:nvPr/>
        </p:nvSpPr>
        <p:spPr>
          <a:xfrm>
            <a:off x="1334438" y="1166843"/>
            <a:ext cx="9523124" cy="4524315"/>
          </a:xfrm>
          <a:prstGeom prst="rect">
            <a:avLst/>
          </a:prstGeom>
          <a:noFill/>
        </p:spPr>
        <p:txBody>
          <a:bodyPr wrap="square" rtlCol="0">
            <a:spAutoFit/>
          </a:bodyPr>
          <a:lstStyle/>
          <a:p>
            <a:pPr algn="ctr"/>
            <a:r>
              <a:rPr lang="en-US" b="1" dirty="0"/>
              <a:t>Goals:</a:t>
            </a:r>
          </a:p>
          <a:p>
            <a:pPr algn="ctr"/>
            <a:endParaRPr lang="en-US" b="1" dirty="0"/>
          </a:p>
          <a:p>
            <a:pPr marL="285750" indent="-285750">
              <a:buFont typeface="Arial" panose="020B0604020202020204" pitchFamily="34" charset="0"/>
              <a:buChar char="•"/>
            </a:pPr>
            <a:r>
              <a:rPr lang="en-US" dirty="0"/>
              <a:t>To understand customer behavior and purchasing patterns on an e-commerce platform.</a:t>
            </a:r>
          </a:p>
          <a:p>
            <a:pPr marL="285750" indent="-285750">
              <a:buFont typeface="Arial" panose="020B0604020202020204" pitchFamily="34" charset="0"/>
              <a:buChar char="•"/>
            </a:pPr>
            <a:r>
              <a:rPr lang="en-US" dirty="0"/>
              <a:t>To identify key factors that influence customer satisfaction and return rates.</a:t>
            </a:r>
          </a:p>
          <a:p>
            <a:pPr marL="285750" indent="-285750">
              <a:buFont typeface="Arial" panose="020B0604020202020204" pitchFamily="34" charset="0"/>
              <a:buChar char="•"/>
            </a:pPr>
            <a:r>
              <a:rPr lang="en-US" dirty="0"/>
              <a:t>To generate actionable insights for improving customer engagement, retention, and sales.</a:t>
            </a:r>
          </a:p>
          <a:p>
            <a:pPr marL="285750" indent="-285750">
              <a:buFont typeface="Arial" panose="020B0604020202020204" pitchFamily="34" charset="0"/>
              <a:buChar char="•"/>
            </a:pPr>
            <a:endParaRPr lang="en-US" dirty="0"/>
          </a:p>
          <a:p>
            <a:pPr algn="ctr"/>
            <a:r>
              <a:rPr lang="en-US" b="1" dirty="0"/>
              <a:t>Objectives:</a:t>
            </a:r>
          </a:p>
          <a:p>
            <a:pPr algn="ctr"/>
            <a:endParaRPr lang="en-US" b="1" dirty="0"/>
          </a:p>
          <a:p>
            <a:pPr marL="285750" indent="-285750">
              <a:buFont typeface="Arial" panose="020B0604020202020204" pitchFamily="34" charset="0"/>
              <a:buChar char="•"/>
            </a:pPr>
            <a:r>
              <a:rPr lang="en-US" dirty="0"/>
              <a:t>Analyze demographic and behavioral data to find trends in purchase amount, device usage, and product preferences.</a:t>
            </a:r>
          </a:p>
          <a:p>
            <a:pPr marL="285750" indent="-285750">
              <a:buFont typeface="Arial" panose="020B0604020202020204" pitchFamily="34" charset="0"/>
              <a:buChar char="•"/>
            </a:pPr>
            <a:r>
              <a:rPr lang="en-US" dirty="0"/>
              <a:t>Measure satisfaction levels and evaluate the impact of delivery time, subscription type, and discounts on customer experience.</a:t>
            </a:r>
          </a:p>
          <a:p>
            <a:pPr marL="285750" indent="-285750">
              <a:buFont typeface="Arial" panose="020B0604020202020204" pitchFamily="34" charset="0"/>
              <a:buChar char="•"/>
            </a:pPr>
            <a:r>
              <a:rPr lang="en-US" dirty="0"/>
              <a:t>Explore the relationship between payment methods, return behavior, and review scores.</a:t>
            </a:r>
          </a:p>
          <a:p>
            <a:pPr marL="285750" indent="-285750">
              <a:buFont typeface="Arial" panose="020B0604020202020204" pitchFamily="34" charset="0"/>
              <a:buChar char="•"/>
            </a:pPr>
            <a:r>
              <a:rPr lang="en-US" dirty="0"/>
              <a:t>Identify high-potential customer segments and locations for targeted marketing and service improvement.</a:t>
            </a:r>
          </a:p>
          <a:p>
            <a:endParaRPr lang="en-US" dirty="0"/>
          </a:p>
        </p:txBody>
      </p:sp>
    </p:spTree>
    <p:extLst>
      <p:ext uri="{BB962C8B-B14F-4D97-AF65-F5344CB8AC3E}">
        <p14:creationId xmlns:p14="http://schemas.microsoft.com/office/powerpoint/2010/main" val="29184290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50A36AD-74AB-5329-E794-77169766738C}"/>
              </a:ext>
            </a:extLst>
          </p:cNvPr>
          <p:cNvSpPr/>
          <p:nvPr/>
        </p:nvSpPr>
        <p:spPr>
          <a:xfrm>
            <a:off x="785397" y="786951"/>
            <a:ext cx="10621206" cy="5284098"/>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E640220-4DE1-2C70-CF03-229196AE5D6E}"/>
              </a:ext>
            </a:extLst>
          </p:cNvPr>
          <p:cNvSpPr txBox="1"/>
          <p:nvPr/>
        </p:nvSpPr>
        <p:spPr>
          <a:xfrm>
            <a:off x="1334438" y="3013501"/>
            <a:ext cx="9523124" cy="830997"/>
          </a:xfrm>
          <a:prstGeom prst="rect">
            <a:avLst/>
          </a:prstGeom>
          <a:noFill/>
        </p:spPr>
        <p:txBody>
          <a:bodyPr wrap="square" rtlCol="0">
            <a:spAutoFit/>
          </a:bodyPr>
          <a:lstStyle/>
          <a:p>
            <a:pPr algn="ctr"/>
            <a:r>
              <a:rPr lang="en-US" sz="4800" b="1" u="dashLong" dirty="0"/>
              <a:t>Basic Insights</a:t>
            </a:r>
            <a:endParaRPr lang="en-US" sz="4800" u="dashLong" dirty="0"/>
          </a:p>
        </p:txBody>
      </p:sp>
    </p:spTree>
    <p:extLst>
      <p:ext uri="{BB962C8B-B14F-4D97-AF65-F5344CB8AC3E}">
        <p14:creationId xmlns:p14="http://schemas.microsoft.com/office/powerpoint/2010/main" val="2784374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72761-0514-FD33-0D2B-EEF6ECC8BACE}"/>
            </a:ext>
          </a:extLst>
        </p:cNvPr>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E9060A43-D229-02C8-58A2-8AB812B7BFA7}"/>
              </a:ext>
            </a:extLst>
          </p:cNvPr>
          <p:cNvSpPr/>
          <p:nvPr/>
        </p:nvSpPr>
        <p:spPr>
          <a:xfrm>
            <a:off x="319889" y="269341"/>
            <a:ext cx="11552222" cy="6319319"/>
          </a:xfrm>
          <a:prstGeom prst="roundRect">
            <a:avLst>
              <a:gd name="adj" fmla="val 1911"/>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0EAF0441-8D6B-F51C-53F1-6EA78FD96BDB}"/>
              </a:ext>
            </a:extLst>
          </p:cNvPr>
          <p:cNvSpPr txBox="1"/>
          <p:nvPr/>
        </p:nvSpPr>
        <p:spPr>
          <a:xfrm>
            <a:off x="628268" y="565655"/>
            <a:ext cx="9523124" cy="369332"/>
          </a:xfrm>
          <a:prstGeom prst="rect">
            <a:avLst/>
          </a:prstGeom>
          <a:noFill/>
        </p:spPr>
        <p:txBody>
          <a:bodyPr wrap="square" rtlCol="0">
            <a:spAutoFit/>
          </a:bodyPr>
          <a:lstStyle/>
          <a:p>
            <a:r>
              <a:rPr lang="en-US" b="1" dirty="0"/>
              <a:t>Q1</a:t>
            </a:r>
            <a:r>
              <a:rPr lang="en-US" dirty="0"/>
              <a:t>: Find Mean, Median, and Mode (Age)</a:t>
            </a:r>
          </a:p>
        </p:txBody>
      </p:sp>
      <p:sp>
        <p:nvSpPr>
          <p:cNvPr id="11" name="TextBox 10">
            <a:extLst>
              <a:ext uri="{FF2B5EF4-FFF2-40B4-BE49-F238E27FC236}">
                <a16:creationId xmlns:a16="http://schemas.microsoft.com/office/drawing/2014/main" id="{D7C1258E-D4E0-8F7F-2BD9-B4B5CD34AB6E}"/>
              </a:ext>
            </a:extLst>
          </p:cNvPr>
          <p:cNvSpPr txBox="1"/>
          <p:nvPr/>
        </p:nvSpPr>
        <p:spPr>
          <a:xfrm>
            <a:off x="860078" y="1140767"/>
            <a:ext cx="3011225" cy="923330"/>
          </a:xfrm>
          <a:prstGeom prst="rect">
            <a:avLst/>
          </a:prstGeom>
          <a:noFill/>
        </p:spPr>
        <p:txBody>
          <a:bodyPr wrap="square" rtlCol="0">
            <a:spAutoFit/>
          </a:bodyPr>
          <a:lstStyle/>
          <a:p>
            <a:r>
              <a:rPr lang="en-US" dirty="0"/>
              <a:t>Mean(Age):  43.7899</a:t>
            </a:r>
          </a:p>
          <a:p>
            <a:r>
              <a:rPr lang="en-US" dirty="0"/>
              <a:t>Median(Age):  44.0</a:t>
            </a:r>
          </a:p>
          <a:p>
            <a:r>
              <a:rPr lang="en-US" dirty="0"/>
              <a:t>Mode(Age):  [51]</a:t>
            </a:r>
          </a:p>
        </p:txBody>
      </p:sp>
      <p:sp>
        <p:nvSpPr>
          <p:cNvPr id="12" name="TextBox 11">
            <a:extLst>
              <a:ext uri="{FF2B5EF4-FFF2-40B4-BE49-F238E27FC236}">
                <a16:creationId xmlns:a16="http://schemas.microsoft.com/office/drawing/2014/main" id="{57AB03E4-FC3C-5F4C-BD02-851897655F82}"/>
              </a:ext>
            </a:extLst>
          </p:cNvPr>
          <p:cNvSpPr txBox="1"/>
          <p:nvPr/>
        </p:nvSpPr>
        <p:spPr>
          <a:xfrm>
            <a:off x="860078" y="2064097"/>
            <a:ext cx="10320952" cy="2339102"/>
          </a:xfrm>
          <a:prstGeom prst="rect">
            <a:avLst/>
          </a:prstGeom>
          <a:noFill/>
        </p:spPr>
        <p:txBody>
          <a:bodyPr wrap="square" rtlCol="0">
            <a:spAutoFit/>
          </a:bodyPr>
          <a:lstStyle/>
          <a:p>
            <a:pPr algn="ctr"/>
            <a:r>
              <a:rPr lang="en-US" dirty="0"/>
              <a:t>Interpretation</a:t>
            </a:r>
            <a:r>
              <a:rPr lang="en-US" u="dashLong" dirty="0"/>
              <a:t>:</a:t>
            </a:r>
          </a:p>
          <a:p>
            <a:r>
              <a:rPr lang="en-US" sz="1600" dirty="0"/>
              <a:t>Average Age is 43.79    </a:t>
            </a:r>
          </a:p>
          <a:p>
            <a:r>
              <a:rPr lang="en-US" sz="1600" dirty="0"/>
              <a:t>➤ Indicates that a large number of customers are middle-aged.</a:t>
            </a:r>
          </a:p>
          <a:p>
            <a:endParaRPr lang="en-US" sz="1600" dirty="0"/>
          </a:p>
          <a:p>
            <a:r>
              <a:rPr lang="en-US" sz="1600" dirty="0"/>
              <a:t>Median Age is 44    </a:t>
            </a:r>
          </a:p>
          <a:p>
            <a:r>
              <a:rPr lang="en-US" sz="1600" dirty="0"/>
              <a:t>➤ Suggests higher purchasing ability, as customers are likely in stable income years.</a:t>
            </a:r>
          </a:p>
          <a:p>
            <a:endParaRPr lang="en-US" sz="1600" dirty="0"/>
          </a:p>
          <a:p>
            <a:r>
              <a:rPr lang="en-US" sz="1600" dirty="0"/>
              <a:t>Most Frequent Age (Mode) is 51    </a:t>
            </a:r>
          </a:p>
          <a:p>
            <a:r>
              <a:rPr lang="en-US" sz="1600" dirty="0"/>
              <a:t>➤ Implies many customers are in their late-career or early-retirement phase.</a:t>
            </a:r>
          </a:p>
        </p:txBody>
      </p:sp>
      <p:sp>
        <p:nvSpPr>
          <p:cNvPr id="13" name="TextBox 12">
            <a:extLst>
              <a:ext uri="{FF2B5EF4-FFF2-40B4-BE49-F238E27FC236}">
                <a16:creationId xmlns:a16="http://schemas.microsoft.com/office/drawing/2014/main" id="{574F4872-C5C1-3E0A-DA2B-476020B4C79A}"/>
              </a:ext>
            </a:extLst>
          </p:cNvPr>
          <p:cNvSpPr txBox="1"/>
          <p:nvPr/>
        </p:nvSpPr>
        <p:spPr>
          <a:xfrm>
            <a:off x="860078" y="4891057"/>
            <a:ext cx="10320952" cy="1138773"/>
          </a:xfrm>
          <a:prstGeom prst="rect">
            <a:avLst/>
          </a:prstGeom>
          <a:noFill/>
        </p:spPr>
        <p:txBody>
          <a:bodyPr wrap="square" rtlCol="0">
            <a:spAutoFit/>
          </a:bodyPr>
          <a:lstStyle/>
          <a:p>
            <a:pPr algn="ctr"/>
            <a:r>
              <a:rPr lang="en-US" dirty="0"/>
              <a:t>Recommendation:</a:t>
            </a:r>
          </a:p>
          <a:p>
            <a:pPr algn="ctr"/>
            <a:endParaRPr lang="en-US" dirty="0"/>
          </a:p>
          <a:p>
            <a:r>
              <a:rPr lang="en-US" sz="1600" dirty="0"/>
              <a:t>By targeting middle aged people, Keep in stores and promote those items they like most. It can be comfortable or classic cloths, debit card, credit cards using offer etc.</a:t>
            </a:r>
          </a:p>
        </p:txBody>
      </p:sp>
    </p:spTree>
    <p:extLst>
      <p:ext uri="{BB962C8B-B14F-4D97-AF65-F5344CB8AC3E}">
        <p14:creationId xmlns:p14="http://schemas.microsoft.com/office/powerpoint/2010/main" val="10977228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2AD6A1F-F321-FAEA-9163-BBEC42D0F227}"/>
              </a:ext>
            </a:extLst>
          </p:cNvPr>
          <p:cNvSpPr/>
          <p:nvPr/>
        </p:nvSpPr>
        <p:spPr>
          <a:xfrm>
            <a:off x="319889" y="269341"/>
            <a:ext cx="11552222" cy="6319319"/>
          </a:xfrm>
          <a:prstGeom prst="roundRect">
            <a:avLst>
              <a:gd name="adj" fmla="val 1911"/>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66AB14B2-EE80-5A3B-DCAE-DB82724522E4}"/>
              </a:ext>
            </a:extLst>
          </p:cNvPr>
          <p:cNvSpPr txBox="1"/>
          <p:nvPr/>
        </p:nvSpPr>
        <p:spPr>
          <a:xfrm>
            <a:off x="628268" y="565655"/>
            <a:ext cx="9523124" cy="369332"/>
          </a:xfrm>
          <a:prstGeom prst="rect">
            <a:avLst/>
          </a:prstGeom>
          <a:noFill/>
        </p:spPr>
        <p:txBody>
          <a:bodyPr wrap="square" rtlCol="0">
            <a:spAutoFit/>
          </a:bodyPr>
          <a:lstStyle/>
          <a:p>
            <a:r>
              <a:rPr lang="en-US"/>
              <a:t>Q2: Find variance, standard deviation, and z-score (Purchase Amount)</a:t>
            </a:r>
            <a:endParaRPr lang="en-US" dirty="0"/>
          </a:p>
        </p:txBody>
      </p:sp>
      <p:sp>
        <p:nvSpPr>
          <p:cNvPr id="2" name="TextBox 1">
            <a:extLst>
              <a:ext uri="{FF2B5EF4-FFF2-40B4-BE49-F238E27FC236}">
                <a16:creationId xmlns:a16="http://schemas.microsoft.com/office/drawing/2014/main" id="{12B039B6-C571-DAF0-D462-6012F09D7E47}"/>
              </a:ext>
            </a:extLst>
          </p:cNvPr>
          <p:cNvSpPr txBox="1"/>
          <p:nvPr/>
        </p:nvSpPr>
        <p:spPr>
          <a:xfrm>
            <a:off x="1059255" y="1502875"/>
            <a:ext cx="5416990" cy="923330"/>
          </a:xfrm>
          <a:prstGeom prst="rect">
            <a:avLst/>
          </a:prstGeom>
          <a:noFill/>
        </p:spPr>
        <p:txBody>
          <a:bodyPr wrap="square" rtlCol="0">
            <a:spAutoFit/>
          </a:bodyPr>
          <a:lstStyle/>
          <a:p>
            <a:r>
              <a:rPr lang="en-US" dirty="0"/>
              <a:t>Variance of Purchase Amount is:  81924.05</a:t>
            </a:r>
          </a:p>
          <a:p>
            <a:endParaRPr lang="en-US" dirty="0"/>
          </a:p>
          <a:p>
            <a:r>
              <a:rPr lang="en-US" dirty="0"/>
              <a:t>Standard Deviation of Purchase Amounts:  286.22</a:t>
            </a:r>
          </a:p>
        </p:txBody>
      </p:sp>
      <p:pic>
        <p:nvPicPr>
          <p:cNvPr id="9" name="Picture 8">
            <a:extLst>
              <a:ext uri="{FF2B5EF4-FFF2-40B4-BE49-F238E27FC236}">
                <a16:creationId xmlns:a16="http://schemas.microsoft.com/office/drawing/2014/main" id="{7558A8DC-5EF3-59D9-193B-ACE56761960E}"/>
              </a:ext>
            </a:extLst>
          </p:cNvPr>
          <p:cNvPicPr>
            <a:picLocks noChangeAspect="1"/>
          </p:cNvPicPr>
          <p:nvPr/>
        </p:nvPicPr>
        <p:blipFill>
          <a:blip r:embed="rId2"/>
          <a:stretch>
            <a:fillRect/>
          </a:stretch>
        </p:blipFill>
        <p:spPr>
          <a:xfrm>
            <a:off x="6761122" y="1095469"/>
            <a:ext cx="2995496" cy="2246622"/>
          </a:xfrm>
          <a:prstGeom prst="rect">
            <a:avLst/>
          </a:prstGeom>
        </p:spPr>
      </p:pic>
      <p:sp>
        <p:nvSpPr>
          <p:cNvPr id="11" name="TextBox 10">
            <a:extLst>
              <a:ext uri="{FF2B5EF4-FFF2-40B4-BE49-F238E27FC236}">
                <a16:creationId xmlns:a16="http://schemas.microsoft.com/office/drawing/2014/main" id="{0F6B80C9-2AF1-6406-8068-6B6ED12D7F05}"/>
              </a:ext>
            </a:extLst>
          </p:cNvPr>
          <p:cNvSpPr txBox="1"/>
          <p:nvPr/>
        </p:nvSpPr>
        <p:spPr>
          <a:xfrm>
            <a:off x="628267" y="3528556"/>
            <a:ext cx="10896793" cy="1877437"/>
          </a:xfrm>
          <a:prstGeom prst="rect">
            <a:avLst/>
          </a:prstGeom>
          <a:noFill/>
        </p:spPr>
        <p:txBody>
          <a:bodyPr wrap="square" rtlCol="0">
            <a:spAutoFit/>
          </a:bodyPr>
          <a:lstStyle/>
          <a:p>
            <a:pPr algn="ctr"/>
            <a:r>
              <a:rPr lang="en-US" b="1" dirty="0"/>
              <a:t>Interpretation:</a:t>
            </a:r>
          </a:p>
          <a:p>
            <a:pPr algn="ctr"/>
            <a:endParaRPr lang="en-US" b="1" dirty="0"/>
          </a:p>
          <a:p>
            <a:pPr marL="285750" indent="-285750">
              <a:buFont typeface="Arial" panose="020B0604020202020204" pitchFamily="34" charset="0"/>
              <a:buChar char="•"/>
            </a:pPr>
            <a:r>
              <a:rPr lang="en-US" sz="1600" dirty="0"/>
              <a:t>Variance is 81,924.05 which reflects high spread in purchase amounts</a:t>
            </a:r>
          </a:p>
          <a:p>
            <a:pPr marL="285750" indent="-285750">
              <a:buFont typeface="Arial" panose="020B0604020202020204" pitchFamily="34" charset="0"/>
              <a:buChar char="•"/>
            </a:pPr>
            <a:r>
              <a:rPr lang="en-US" sz="1600" dirty="0"/>
              <a:t>A standard deviation of 286.22 is quite large. Indicates a diverse set of purchasing behaviors like some customers spend very little, some spend a lot.</a:t>
            </a:r>
          </a:p>
          <a:p>
            <a:pPr marL="285750" indent="-285750">
              <a:buFont typeface="Arial" panose="020B0604020202020204" pitchFamily="34" charset="0"/>
              <a:buChar char="•"/>
            </a:pPr>
            <a:r>
              <a:rPr lang="en-US" sz="1600" dirty="0"/>
              <a:t>Most values fall within ±2 SD, showing a consistent purchasing pattern. The flat-top shape means there have no single dominant amount density drops beyond +2 and -2, which means extreme low or extreme high purchase amount are rare</a:t>
            </a:r>
            <a:endParaRPr lang="en-US" dirty="0"/>
          </a:p>
        </p:txBody>
      </p:sp>
    </p:spTree>
    <p:extLst>
      <p:ext uri="{BB962C8B-B14F-4D97-AF65-F5344CB8AC3E}">
        <p14:creationId xmlns:p14="http://schemas.microsoft.com/office/powerpoint/2010/main" val="40391702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FCE07-4DAB-6D27-D0EE-3F168346B36A}"/>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114BEDED-7AAE-23A4-4BCF-D4C36D7D4811}"/>
              </a:ext>
            </a:extLst>
          </p:cNvPr>
          <p:cNvSpPr/>
          <p:nvPr/>
        </p:nvSpPr>
        <p:spPr>
          <a:xfrm>
            <a:off x="319889" y="269341"/>
            <a:ext cx="11552222" cy="6319319"/>
          </a:xfrm>
          <a:prstGeom prst="roundRect">
            <a:avLst>
              <a:gd name="adj" fmla="val 1911"/>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EAD3D90-63B0-8D1C-2D2B-0C8DF3FBE88D}"/>
              </a:ext>
            </a:extLst>
          </p:cNvPr>
          <p:cNvSpPr txBox="1"/>
          <p:nvPr/>
        </p:nvSpPr>
        <p:spPr>
          <a:xfrm>
            <a:off x="628268" y="565655"/>
            <a:ext cx="9523124" cy="369332"/>
          </a:xfrm>
          <a:prstGeom prst="rect">
            <a:avLst/>
          </a:prstGeom>
          <a:noFill/>
        </p:spPr>
        <p:txBody>
          <a:bodyPr wrap="square" rtlCol="0">
            <a:spAutoFit/>
          </a:bodyPr>
          <a:lstStyle/>
          <a:p>
            <a:r>
              <a:rPr lang="en-US" dirty="0"/>
              <a:t>Q3: What are the top three product categories based on the number of purchases?</a:t>
            </a:r>
          </a:p>
        </p:txBody>
      </p:sp>
      <p:sp>
        <p:nvSpPr>
          <p:cNvPr id="4" name="TextBox 3">
            <a:extLst>
              <a:ext uri="{FF2B5EF4-FFF2-40B4-BE49-F238E27FC236}">
                <a16:creationId xmlns:a16="http://schemas.microsoft.com/office/drawing/2014/main" id="{87DDDF24-DD5D-11BF-895B-6EBF4DC39F0C}"/>
              </a:ext>
            </a:extLst>
          </p:cNvPr>
          <p:cNvSpPr txBox="1"/>
          <p:nvPr/>
        </p:nvSpPr>
        <p:spPr>
          <a:xfrm>
            <a:off x="628269" y="3462704"/>
            <a:ext cx="5401340" cy="2862322"/>
          </a:xfrm>
          <a:prstGeom prst="rect">
            <a:avLst/>
          </a:prstGeom>
          <a:noFill/>
        </p:spPr>
        <p:txBody>
          <a:bodyPr wrap="square" rtlCol="0">
            <a:spAutoFit/>
          </a:bodyPr>
          <a:lstStyle/>
          <a:p>
            <a:pPr algn="ctr"/>
            <a:r>
              <a:rPr lang="en-US" b="1" dirty="0"/>
              <a:t>Interpretation:</a:t>
            </a:r>
          </a:p>
          <a:p>
            <a:pPr algn="ctr"/>
            <a:endParaRPr lang="en-US" b="1" dirty="0"/>
          </a:p>
          <a:p>
            <a:pPr marL="285750" indent="-285750">
              <a:buFont typeface="Arial" panose="020B0604020202020204" pitchFamily="34" charset="0"/>
              <a:buChar char="•"/>
            </a:pPr>
            <a:r>
              <a:rPr lang="en-US" sz="1600" b="1" dirty="0"/>
              <a:t>Electronics</a:t>
            </a:r>
            <a:r>
              <a:rPr lang="en-US" sz="1600" dirty="0"/>
              <a:t> is the most purchased category, but </a:t>
            </a:r>
            <a:r>
              <a:rPr lang="en-US" sz="1600" b="1" dirty="0"/>
              <a:t>Clothing</a:t>
            </a:r>
            <a:r>
              <a:rPr lang="en-US" sz="1600" dirty="0"/>
              <a:t> and </a:t>
            </a:r>
            <a:r>
              <a:rPr lang="en-US" sz="1600" b="1" dirty="0"/>
              <a:t>Toys</a:t>
            </a:r>
            <a:r>
              <a:rPr lang="en-US" sz="1600" dirty="0"/>
              <a:t> follow closely, showing strong interest across all three.</a:t>
            </a:r>
          </a:p>
          <a:p>
            <a:pPr marL="285750" indent="-285750">
              <a:buFont typeface="Arial" panose="020B0604020202020204" pitchFamily="34" charset="0"/>
              <a:buChar char="•"/>
            </a:pPr>
            <a:r>
              <a:rPr lang="en-US" sz="1600" dirty="0"/>
              <a:t>The close purchase counts suggest that customers often buy multiple types of products together — for example, parents buying electronics along with toys.</a:t>
            </a:r>
          </a:p>
          <a:p>
            <a:pPr marL="285750" indent="-285750">
              <a:buFont typeface="Arial" panose="020B0604020202020204" pitchFamily="34" charset="0"/>
              <a:buChar char="•"/>
            </a:pPr>
            <a:r>
              <a:rPr lang="en-US" sz="1600" b="1" dirty="0"/>
              <a:t>Beauty, Groceries, and Sports</a:t>
            </a:r>
            <a:r>
              <a:rPr lang="en-US" sz="1600" dirty="0"/>
              <a:t> have the lowest purchases, indicating underperformance in these categories.</a:t>
            </a:r>
            <a:endParaRPr lang="en-US" sz="1700" dirty="0"/>
          </a:p>
        </p:txBody>
      </p:sp>
      <p:sp>
        <p:nvSpPr>
          <p:cNvPr id="5" name="TextBox 4">
            <a:extLst>
              <a:ext uri="{FF2B5EF4-FFF2-40B4-BE49-F238E27FC236}">
                <a16:creationId xmlns:a16="http://schemas.microsoft.com/office/drawing/2014/main" id="{FB0CC7DC-0D03-B8B6-55CE-69700D2BD88D}"/>
              </a:ext>
            </a:extLst>
          </p:cNvPr>
          <p:cNvSpPr txBox="1"/>
          <p:nvPr/>
        </p:nvSpPr>
        <p:spPr>
          <a:xfrm>
            <a:off x="6029609" y="3429000"/>
            <a:ext cx="5709720" cy="2616101"/>
          </a:xfrm>
          <a:prstGeom prst="rect">
            <a:avLst/>
          </a:prstGeom>
          <a:noFill/>
        </p:spPr>
        <p:txBody>
          <a:bodyPr wrap="square" rtlCol="0">
            <a:spAutoFit/>
          </a:bodyPr>
          <a:lstStyle/>
          <a:p>
            <a:pPr algn="ctr"/>
            <a:r>
              <a:rPr lang="en-US" b="1" dirty="0"/>
              <a:t>Recommendations:</a:t>
            </a:r>
          </a:p>
          <a:p>
            <a:pPr algn="ctr"/>
            <a:endParaRPr lang="en-US" b="1" dirty="0"/>
          </a:p>
          <a:p>
            <a:pPr marL="285750" indent="-285750">
              <a:buFont typeface="Arial" panose="020B0604020202020204" pitchFamily="34" charset="0"/>
              <a:buChar char="•"/>
            </a:pPr>
            <a:r>
              <a:rPr lang="en-US" sz="1600" b="1" dirty="0"/>
              <a:t>Prioritize inventory management</a:t>
            </a:r>
            <a:r>
              <a:rPr lang="en-US" sz="1600" dirty="0"/>
              <a:t> for the top 3 categories. Set an alert system to notify if stock falls below 10%.</a:t>
            </a:r>
          </a:p>
          <a:p>
            <a:pPr marL="285750" indent="-285750">
              <a:buFont typeface="Arial" panose="020B0604020202020204" pitchFamily="34" charset="0"/>
              <a:buChar char="•"/>
            </a:pPr>
            <a:r>
              <a:rPr lang="en-US" sz="1600" b="1" dirty="0"/>
              <a:t>Run limited-time offers</a:t>
            </a:r>
            <a:r>
              <a:rPr lang="en-US" sz="1600" dirty="0"/>
              <a:t> for Electronics, Clothing, and Toys using seasonal promotions, style guides, or bundle deals to boost sales.</a:t>
            </a:r>
          </a:p>
          <a:p>
            <a:pPr marL="285750" indent="-285750">
              <a:buFont typeface="Arial" panose="020B0604020202020204" pitchFamily="34" charset="0"/>
              <a:buChar char="•"/>
            </a:pPr>
            <a:r>
              <a:rPr lang="en-US" sz="1600" b="1" dirty="0"/>
              <a:t>Combine top and bottom categories</a:t>
            </a:r>
            <a:r>
              <a:rPr lang="en-US" sz="1600" dirty="0"/>
              <a:t> in bundled promotions to increase visibility and demand for underperforming items like Beauty, Groceries, and Sports.</a:t>
            </a:r>
          </a:p>
        </p:txBody>
      </p:sp>
      <p:pic>
        <p:nvPicPr>
          <p:cNvPr id="7" name="Picture 6">
            <a:extLst>
              <a:ext uri="{FF2B5EF4-FFF2-40B4-BE49-F238E27FC236}">
                <a16:creationId xmlns:a16="http://schemas.microsoft.com/office/drawing/2014/main" id="{4D4F635D-CF3A-92C2-7DD8-019C5D8CFD67}"/>
              </a:ext>
            </a:extLst>
          </p:cNvPr>
          <p:cNvPicPr>
            <a:picLocks noChangeAspect="1"/>
          </p:cNvPicPr>
          <p:nvPr/>
        </p:nvPicPr>
        <p:blipFill>
          <a:blip r:embed="rId2"/>
          <a:stretch>
            <a:fillRect/>
          </a:stretch>
        </p:blipFill>
        <p:spPr>
          <a:xfrm>
            <a:off x="2275438" y="968690"/>
            <a:ext cx="7641125" cy="2426607"/>
          </a:xfrm>
          <a:prstGeom prst="rect">
            <a:avLst/>
          </a:prstGeom>
        </p:spPr>
      </p:pic>
    </p:spTree>
    <p:extLst>
      <p:ext uri="{BB962C8B-B14F-4D97-AF65-F5344CB8AC3E}">
        <p14:creationId xmlns:p14="http://schemas.microsoft.com/office/powerpoint/2010/main" val="8660051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D2349-FFC8-7B9E-062C-C880CBE1965F}"/>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CED2B19C-C903-0041-1961-DE7D5041F66E}"/>
              </a:ext>
            </a:extLst>
          </p:cNvPr>
          <p:cNvSpPr/>
          <p:nvPr/>
        </p:nvSpPr>
        <p:spPr>
          <a:xfrm>
            <a:off x="319889" y="269341"/>
            <a:ext cx="11552222" cy="6319319"/>
          </a:xfrm>
          <a:prstGeom prst="roundRect">
            <a:avLst>
              <a:gd name="adj" fmla="val 1911"/>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22B3B32-7D41-E098-5983-5848922630C3}"/>
              </a:ext>
            </a:extLst>
          </p:cNvPr>
          <p:cNvSpPr txBox="1"/>
          <p:nvPr/>
        </p:nvSpPr>
        <p:spPr>
          <a:xfrm>
            <a:off x="628268" y="565655"/>
            <a:ext cx="9523124" cy="369332"/>
          </a:xfrm>
          <a:prstGeom prst="rect">
            <a:avLst/>
          </a:prstGeom>
          <a:noFill/>
        </p:spPr>
        <p:txBody>
          <a:bodyPr wrap="square" rtlCol="0">
            <a:spAutoFit/>
          </a:bodyPr>
          <a:lstStyle/>
          <a:p>
            <a:r>
              <a:rPr lang="en-US" dirty="0"/>
              <a:t>Q4: How many customers are classified as return customers?</a:t>
            </a:r>
          </a:p>
        </p:txBody>
      </p:sp>
      <p:pic>
        <p:nvPicPr>
          <p:cNvPr id="5" name="Picture 4">
            <a:extLst>
              <a:ext uri="{FF2B5EF4-FFF2-40B4-BE49-F238E27FC236}">
                <a16:creationId xmlns:a16="http://schemas.microsoft.com/office/drawing/2014/main" id="{E088F359-E9D1-548B-ADEB-436C4F0CF9FB}"/>
              </a:ext>
            </a:extLst>
          </p:cNvPr>
          <p:cNvPicPr>
            <a:picLocks noChangeAspect="1"/>
          </p:cNvPicPr>
          <p:nvPr/>
        </p:nvPicPr>
        <p:blipFill>
          <a:blip r:embed="rId2"/>
          <a:srcRect l="23285" t="4768" r="20793" b="11671"/>
          <a:stretch>
            <a:fillRect/>
          </a:stretch>
        </p:blipFill>
        <p:spPr>
          <a:xfrm>
            <a:off x="878186" y="1543726"/>
            <a:ext cx="3582710" cy="4015101"/>
          </a:xfrm>
          <a:prstGeom prst="rect">
            <a:avLst/>
          </a:prstGeom>
        </p:spPr>
      </p:pic>
      <p:sp>
        <p:nvSpPr>
          <p:cNvPr id="6" name="TextBox 5">
            <a:extLst>
              <a:ext uri="{FF2B5EF4-FFF2-40B4-BE49-F238E27FC236}">
                <a16:creationId xmlns:a16="http://schemas.microsoft.com/office/drawing/2014/main" id="{F0E00FC9-B3E5-67A5-A81B-C3B314DCDC5A}"/>
              </a:ext>
            </a:extLst>
          </p:cNvPr>
          <p:cNvSpPr txBox="1"/>
          <p:nvPr/>
        </p:nvSpPr>
        <p:spPr>
          <a:xfrm>
            <a:off x="5019193" y="1036375"/>
            <a:ext cx="5401340" cy="1384995"/>
          </a:xfrm>
          <a:prstGeom prst="rect">
            <a:avLst/>
          </a:prstGeom>
          <a:noFill/>
        </p:spPr>
        <p:txBody>
          <a:bodyPr wrap="square" rtlCol="0">
            <a:spAutoFit/>
          </a:bodyPr>
          <a:lstStyle/>
          <a:p>
            <a:pPr algn="ctr"/>
            <a:r>
              <a:rPr lang="en-US" b="1" dirty="0"/>
              <a:t>Interpretation:</a:t>
            </a:r>
          </a:p>
          <a:p>
            <a:pPr algn="ctr"/>
            <a:endParaRPr lang="en-US" b="1" dirty="0"/>
          </a:p>
          <a:p>
            <a:pPr marL="285750" indent="-285750">
              <a:buFont typeface="Arial" panose="020B0604020202020204" pitchFamily="34" charset="0"/>
              <a:buChar char="•"/>
            </a:pPr>
            <a:r>
              <a:rPr lang="en-US" sz="1600" b="1" dirty="0"/>
              <a:t>50% return rate is relatively strong, suggests Low customer satisfaction or poor experience to engagement of products</a:t>
            </a:r>
            <a:endParaRPr lang="en-US" sz="1700" dirty="0"/>
          </a:p>
        </p:txBody>
      </p:sp>
      <p:sp>
        <p:nvSpPr>
          <p:cNvPr id="7" name="TextBox 6">
            <a:extLst>
              <a:ext uri="{FF2B5EF4-FFF2-40B4-BE49-F238E27FC236}">
                <a16:creationId xmlns:a16="http://schemas.microsoft.com/office/drawing/2014/main" id="{15EC5AEC-B4CD-1566-EA68-CD12A188A18E}"/>
              </a:ext>
            </a:extLst>
          </p:cNvPr>
          <p:cNvSpPr txBox="1"/>
          <p:nvPr/>
        </p:nvSpPr>
        <p:spPr>
          <a:xfrm>
            <a:off x="5019193" y="3430023"/>
            <a:ext cx="5401340" cy="1877437"/>
          </a:xfrm>
          <a:prstGeom prst="rect">
            <a:avLst/>
          </a:prstGeom>
          <a:noFill/>
        </p:spPr>
        <p:txBody>
          <a:bodyPr wrap="square" rtlCol="0">
            <a:spAutoFit/>
          </a:bodyPr>
          <a:lstStyle/>
          <a:p>
            <a:pPr algn="ctr"/>
            <a:r>
              <a:rPr lang="en-US" b="1" dirty="0"/>
              <a:t>Recommendation:</a:t>
            </a:r>
          </a:p>
          <a:p>
            <a:pPr algn="ctr"/>
            <a:endParaRPr lang="en-US" b="1" dirty="0"/>
          </a:p>
          <a:p>
            <a:pPr marL="285750" indent="-285750">
              <a:buFont typeface="Arial" panose="020B0604020202020204" pitchFamily="34" charset="0"/>
              <a:buChar char="•"/>
            </a:pPr>
            <a:r>
              <a:rPr lang="en-US" sz="1600" b="1" dirty="0"/>
              <a:t>Check the product quality before and after delivery. Is there any difference in the condition of the product?</a:t>
            </a:r>
          </a:p>
          <a:p>
            <a:pPr marL="285750" indent="-285750">
              <a:buFont typeface="Arial" panose="020B0604020202020204" pitchFamily="34" charset="0"/>
              <a:buChar char="•"/>
            </a:pPr>
            <a:r>
              <a:rPr lang="en-US" sz="1600" b="1" dirty="0"/>
              <a:t>Run an engagement campaign targeting customers who returned products to find out the reasons behind their returns.</a:t>
            </a:r>
            <a:endParaRPr lang="en-US" sz="1700" dirty="0"/>
          </a:p>
        </p:txBody>
      </p:sp>
    </p:spTree>
    <p:extLst>
      <p:ext uri="{BB962C8B-B14F-4D97-AF65-F5344CB8AC3E}">
        <p14:creationId xmlns:p14="http://schemas.microsoft.com/office/powerpoint/2010/main" val="18939181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5A8BC00A-9A17-7452-4A43-A97D71B1F291}"/>
              </a:ext>
            </a:extLst>
          </p:cNvPr>
          <p:cNvSpPr/>
          <p:nvPr/>
        </p:nvSpPr>
        <p:spPr>
          <a:xfrm>
            <a:off x="319889" y="269341"/>
            <a:ext cx="11552222" cy="6319319"/>
          </a:xfrm>
          <a:prstGeom prst="roundRect">
            <a:avLst>
              <a:gd name="adj" fmla="val 1911"/>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404E118-DA9B-81BA-A296-F9781A9C3C2D}"/>
              </a:ext>
            </a:extLst>
          </p:cNvPr>
          <p:cNvSpPr txBox="1"/>
          <p:nvPr/>
        </p:nvSpPr>
        <p:spPr>
          <a:xfrm>
            <a:off x="628268" y="565655"/>
            <a:ext cx="9523124" cy="369332"/>
          </a:xfrm>
          <a:prstGeom prst="rect">
            <a:avLst/>
          </a:prstGeom>
          <a:noFill/>
        </p:spPr>
        <p:txBody>
          <a:bodyPr wrap="square" rtlCol="0">
            <a:spAutoFit/>
          </a:bodyPr>
          <a:lstStyle/>
          <a:p>
            <a:r>
              <a:rPr lang="en-US" dirty="0"/>
              <a:t>Q5: What is the average review score given by customers? </a:t>
            </a:r>
          </a:p>
        </p:txBody>
      </p:sp>
      <p:pic>
        <p:nvPicPr>
          <p:cNvPr id="9" name="Picture 8">
            <a:extLst>
              <a:ext uri="{FF2B5EF4-FFF2-40B4-BE49-F238E27FC236}">
                <a16:creationId xmlns:a16="http://schemas.microsoft.com/office/drawing/2014/main" id="{1FA5659A-F064-1C89-8560-8F3C0E5ED983}"/>
              </a:ext>
            </a:extLst>
          </p:cNvPr>
          <p:cNvPicPr>
            <a:picLocks noChangeAspect="1"/>
          </p:cNvPicPr>
          <p:nvPr/>
        </p:nvPicPr>
        <p:blipFill>
          <a:blip r:embed="rId2"/>
          <a:stretch>
            <a:fillRect/>
          </a:stretch>
        </p:blipFill>
        <p:spPr>
          <a:xfrm>
            <a:off x="481035" y="1388349"/>
            <a:ext cx="6073674" cy="4389129"/>
          </a:xfrm>
          <a:prstGeom prst="rect">
            <a:avLst/>
          </a:prstGeom>
        </p:spPr>
      </p:pic>
      <p:sp>
        <p:nvSpPr>
          <p:cNvPr id="10" name="TextBox 9">
            <a:extLst>
              <a:ext uri="{FF2B5EF4-FFF2-40B4-BE49-F238E27FC236}">
                <a16:creationId xmlns:a16="http://schemas.microsoft.com/office/drawing/2014/main" id="{D355CE2F-DE55-C4A4-6F7C-47F187911351}"/>
              </a:ext>
            </a:extLst>
          </p:cNvPr>
          <p:cNvSpPr txBox="1"/>
          <p:nvPr/>
        </p:nvSpPr>
        <p:spPr>
          <a:xfrm>
            <a:off x="6944007" y="1036375"/>
            <a:ext cx="4766957" cy="2123658"/>
          </a:xfrm>
          <a:prstGeom prst="rect">
            <a:avLst/>
          </a:prstGeom>
          <a:noFill/>
        </p:spPr>
        <p:txBody>
          <a:bodyPr wrap="square" rtlCol="0">
            <a:spAutoFit/>
          </a:bodyPr>
          <a:lstStyle/>
          <a:p>
            <a:pPr algn="ctr"/>
            <a:r>
              <a:rPr lang="en-US" b="1" dirty="0"/>
              <a:t>Interpretation:</a:t>
            </a:r>
          </a:p>
          <a:p>
            <a:pPr algn="ctr"/>
            <a:endParaRPr lang="en-US" b="1" dirty="0"/>
          </a:p>
          <a:p>
            <a:pPr marL="285750" indent="-285750">
              <a:buFont typeface="Arial" panose="020B0604020202020204" pitchFamily="34" charset="0"/>
              <a:buChar char="•"/>
            </a:pPr>
            <a:r>
              <a:rPr lang="en-US" sz="1600" b="1" dirty="0"/>
              <a:t>A score of 3.0 is neutral, meaning customers are neither highly satisfied nor highly dissatisfied. </a:t>
            </a:r>
          </a:p>
          <a:p>
            <a:pPr marL="285750" indent="-285750">
              <a:buFont typeface="Arial" panose="020B0604020202020204" pitchFamily="34" charset="0"/>
              <a:buChar char="•"/>
            </a:pPr>
            <a:r>
              <a:rPr lang="en-US" sz="1600" b="1" dirty="0"/>
              <a:t>Unmet expectations (like, delivery, product quality)</a:t>
            </a:r>
          </a:p>
          <a:p>
            <a:pPr marL="285750" indent="-285750">
              <a:buFont typeface="Arial" panose="020B0604020202020204" pitchFamily="34" charset="0"/>
              <a:buChar char="•"/>
            </a:pPr>
            <a:r>
              <a:rPr lang="en-US" sz="1600" b="1" dirty="0"/>
              <a:t>Some variance in experiences (some good, some bad)</a:t>
            </a:r>
            <a:endParaRPr lang="en-US" sz="1700" dirty="0"/>
          </a:p>
        </p:txBody>
      </p:sp>
      <p:sp>
        <p:nvSpPr>
          <p:cNvPr id="11" name="TextBox 10">
            <a:extLst>
              <a:ext uri="{FF2B5EF4-FFF2-40B4-BE49-F238E27FC236}">
                <a16:creationId xmlns:a16="http://schemas.microsoft.com/office/drawing/2014/main" id="{2F10A923-0D5F-291A-7FC0-BFCB76D0C9C5}"/>
              </a:ext>
            </a:extLst>
          </p:cNvPr>
          <p:cNvSpPr txBox="1"/>
          <p:nvPr/>
        </p:nvSpPr>
        <p:spPr>
          <a:xfrm>
            <a:off x="6944007" y="3430023"/>
            <a:ext cx="4766957" cy="2154436"/>
          </a:xfrm>
          <a:prstGeom prst="rect">
            <a:avLst/>
          </a:prstGeom>
          <a:noFill/>
        </p:spPr>
        <p:txBody>
          <a:bodyPr wrap="square" rtlCol="0">
            <a:spAutoFit/>
          </a:bodyPr>
          <a:lstStyle/>
          <a:p>
            <a:pPr algn="ctr"/>
            <a:r>
              <a:rPr lang="en-US" b="1" dirty="0"/>
              <a:t>Recommendation:</a:t>
            </a:r>
          </a:p>
          <a:p>
            <a:pPr algn="ctr"/>
            <a:endParaRPr lang="en-US" b="1" dirty="0"/>
          </a:p>
          <a:p>
            <a:pPr marL="285750" indent="-285750">
              <a:buFont typeface="Arial" panose="020B0604020202020204" pitchFamily="34" charset="0"/>
              <a:buChar char="•"/>
            </a:pPr>
            <a:r>
              <a:rPr lang="en-US" sz="1600" b="1" dirty="0"/>
              <a:t>Investigate low-scoring reviews to find consistent pain points (e.g., delivery delay, quality mismatch).Improve packaging, delivery speed, and product accuracy.</a:t>
            </a:r>
          </a:p>
          <a:p>
            <a:pPr marL="285750" indent="-285750">
              <a:buFont typeface="Arial" panose="020B0604020202020204" pitchFamily="34" charset="0"/>
              <a:buChar char="•"/>
            </a:pPr>
            <a:r>
              <a:rPr lang="en-US" sz="1700" dirty="0"/>
              <a:t>Offer a small incentive like, coupon to encourage feedback and boost scores.</a:t>
            </a:r>
          </a:p>
        </p:txBody>
      </p:sp>
    </p:spTree>
    <p:extLst>
      <p:ext uri="{BB962C8B-B14F-4D97-AF65-F5344CB8AC3E}">
        <p14:creationId xmlns:p14="http://schemas.microsoft.com/office/powerpoint/2010/main" val="33456939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4ECB3-540B-60F6-E091-FC19A95418B8}"/>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2F784548-D4C3-709A-E282-E4D856DB2F30}"/>
              </a:ext>
            </a:extLst>
          </p:cNvPr>
          <p:cNvSpPr/>
          <p:nvPr/>
        </p:nvSpPr>
        <p:spPr>
          <a:xfrm>
            <a:off x="319889" y="269341"/>
            <a:ext cx="11552222" cy="6319319"/>
          </a:xfrm>
          <a:prstGeom prst="roundRect">
            <a:avLst>
              <a:gd name="adj" fmla="val 1911"/>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263F8BB-1A2C-2D53-C849-8144845E7D99}"/>
              </a:ext>
            </a:extLst>
          </p:cNvPr>
          <p:cNvSpPr txBox="1"/>
          <p:nvPr/>
        </p:nvSpPr>
        <p:spPr>
          <a:xfrm>
            <a:off x="628268" y="565655"/>
            <a:ext cx="9523124" cy="369332"/>
          </a:xfrm>
          <a:prstGeom prst="rect">
            <a:avLst/>
          </a:prstGeom>
          <a:noFill/>
        </p:spPr>
        <p:txBody>
          <a:bodyPr wrap="square" rtlCol="0">
            <a:spAutoFit/>
          </a:bodyPr>
          <a:lstStyle/>
          <a:p>
            <a:r>
              <a:rPr lang="en-US" dirty="0"/>
              <a:t>Q6: How does the average delivery time vary between subscription statuses (Free, Premium)?</a:t>
            </a:r>
          </a:p>
        </p:txBody>
      </p:sp>
      <p:pic>
        <p:nvPicPr>
          <p:cNvPr id="3" name="Picture 2">
            <a:extLst>
              <a:ext uri="{FF2B5EF4-FFF2-40B4-BE49-F238E27FC236}">
                <a16:creationId xmlns:a16="http://schemas.microsoft.com/office/drawing/2014/main" id="{33E2470C-C856-3CD7-F52B-AD41300098C8}"/>
              </a:ext>
            </a:extLst>
          </p:cNvPr>
          <p:cNvPicPr>
            <a:picLocks noChangeAspect="1"/>
          </p:cNvPicPr>
          <p:nvPr/>
        </p:nvPicPr>
        <p:blipFill>
          <a:blip r:embed="rId2"/>
          <a:srcRect l="2878" t="2610" r="7857"/>
          <a:stretch>
            <a:fillRect/>
          </a:stretch>
        </p:blipFill>
        <p:spPr>
          <a:xfrm>
            <a:off x="628269" y="1371353"/>
            <a:ext cx="4940389" cy="4042619"/>
          </a:xfrm>
          <a:prstGeom prst="rect">
            <a:avLst/>
          </a:prstGeom>
        </p:spPr>
      </p:pic>
      <p:sp>
        <p:nvSpPr>
          <p:cNvPr id="4" name="TextBox 3">
            <a:extLst>
              <a:ext uri="{FF2B5EF4-FFF2-40B4-BE49-F238E27FC236}">
                <a16:creationId xmlns:a16="http://schemas.microsoft.com/office/drawing/2014/main" id="{05FC5B26-4EA2-ACA1-93E4-2DB2D2208BBF}"/>
              </a:ext>
            </a:extLst>
          </p:cNvPr>
          <p:cNvSpPr txBox="1"/>
          <p:nvPr/>
        </p:nvSpPr>
        <p:spPr>
          <a:xfrm>
            <a:off x="5730844" y="1063534"/>
            <a:ext cx="5961881" cy="2369880"/>
          </a:xfrm>
          <a:prstGeom prst="rect">
            <a:avLst/>
          </a:prstGeom>
          <a:noFill/>
        </p:spPr>
        <p:txBody>
          <a:bodyPr wrap="square" rtlCol="0">
            <a:spAutoFit/>
          </a:bodyPr>
          <a:lstStyle/>
          <a:p>
            <a:pPr algn="ctr"/>
            <a:r>
              <a:rPr lang="en-US" b="1" dirty="0"/>
              <a:t>Interpretation:</a:t>
            </a:r>
          </a:p>
          <a:p>
            <a:pPr algn="ctr"/>
            <a:endParaRPr lang="en-US" b="1" dirty="0"/>
          </a:p>
          <a:p>
            <a:pPr marL="285750" indent="-285750">
              <a:buFont typeface="Arial" panose="020B0604020202020204" pitchFamily="34" charset="0"/>
              <a:buChar char="•"/>
            </a:pPr>
            <a:r>
              <a:rPr lang="en-US" sz="1600" b="1" dirty="0"/>
              <a:t>Premium users wait 7.07 days, which is slightly longer than free and trial users. as premium customers typically expect faster service in exchange for loyalty or fees.</a:t>
            </a:r>
          </a:p>
          <a:p>
            <a:pPr marL="285750" indent="-285750">
              <a:buFont typeface="Arial" panose="020B0604020202020204" pitchFamily="34" charset="0"/>
              <a:buChar char="•"/>
            </a:pPr>
            <a:r>
              <a:rPr lang="en-US" sz="1600" b="1" dirty="0"/>
              <a:t>Delivery time differences are nearly the same, suggesting no major prioritization for premium members. This could be a signal that a one-size-fits-all logistics approach. Which affects premium customers and reduces upgrade rates.</a:t>
            </a:r>
            <a:endParaRPr lang="en-US" sz="1700" dirty="0"/>
          </a:p>
        </p:txBody>
      </p:sp>
      <p:sp>
        <p:nvSpPr>
          <p:cNvPr id="5" name="TextBox 4">
            <a:extLst>
              <a:ext uri="{FF2B5EF4-FFF2-40B4-BE49-F238E27FC236}">
                <a16:creationId xmlns:a16="http://schemas.microsoft.com/office/drawing/2014/main" id="{1EEB51FC-0349-5533-8CC9-84FB0380F618}"/>
              </a:ext>
            </a:extLst>
          </p:cNvPr>
          <p:cNvSpPr txBox="1"/>
          <p:nvPr/>
        </p:nvSpPr>
        <p:spPr>
          <a:xfrm>
            <a:off x="5730844" y="3692574"/>
            <a:ext cx="5961879" cy="2862322"/>
          </a:xfrm>
          <a:prstGeom prst="rect">
            <a:avLst/>
          </a:prstGeom>
          <a:noFill/>
        </p:spPr>
        <p:txBody>
          <a:bodyPr wrap="square" rtlCol="0">
            <a:spAutoFit/>
          </a:bodyPr>
          <a:lstStyle/>
          <a:p>
            <a:pPr algn="ctr"/>
            <a:r>
              <a:rPr lang="en-US" b="1" dirty="0"/>
              <a:t>Recommendation:</a:t>
            </a:r>
          </a:p>
          <a:p>
            <a:pPr algn="ctr"/>
            <a:endParaRPr lang="en-US" b="1" dirty="0"/>
          </a:p>
          <a:p>
            <a:pPr marL="285750" indent="-285750">
              <a:buFont typeface="Arial" panose="020B0604020202020204" pitchFamily="34" charset="0"/>
              <a:buChar char="•"/>
            </a:pPr>
            <a:r>
              <a:rPr lang="en-US" sz="1600" b="1" dirty="0"/>
              <a:t>Organize the logistics system based on the type of subscription. So that they can't mix up customers with different subscription plans.</a:t>
            </a:r>
          </a:p>
          <a:p>
            <a:pPr marL="285750" indent="-285750">
              <a:buFont typeface="Arial" panose="020B0604020202020204" pitchFamily="34" charset="0"/>
              <a:buChar char="•"/>
            </a:pPr>
            <a:r>
              <a:rPr lang="en-US" sz="1600" b="1" dirty="0"/>
              <a:t>Prioritize premium customers in the delivery pipeline by offering a faster delivery option. partners with logistic providers to expedite them.</a:t>
            </a:r>
          </a:p>
          <a:p>
            <a:pPr marL="285750" indent="-285750">
              <a:buFont typeface="Arial" panose="020B0604020202020204" pitchFamily="34" charset="0"/>
              <a:buChar char="•"/>
            </a:pPr>
            <a:r>
              <a:rPr lang="en-US" sz="1600" b="1" dirty="0"/>
              <a:t>By enhance premium value proposition, offer them Priority customer support, Free returns or handling, delivery tracking alerts.</a:t>
            </a:r>
            <a:endParaRPr lang="en-US" sz="1700" dirty="0"/>
          </a:p>
        </p:txBody>
      </p:sp>
    </p:spTree>
    <p:extLst>
      <p:ext uri="{BB962C8B-B14F-4D97-AF65-F5344CB8AC3E}">
        <p14:creationId xmlns:p14="http://schemas.microsoft.com/office/powerpoint/2010/main" val="12900158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C84B0-5474-5E22-1770-F187B1C5BD0F}"/>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F07349F6-DECF-223C-D996-B7A54B6AB351}"/>
              </a:ext>
            </a:extLst>
          </p:cNvPr>
          <p:cNvSpPr/>
          <p:nvPr/>
        </p:nvSpPr>
        <p:spPr>
          <a:xfrm>
            <a:off x="319889" y="269341"/>
            <a:ext cx="11552222" cy="6319319"/>
          </a:xfrm>
          <a:prstGeom prst="roundRect">
            <a:avLst>
              <a:gd name="adj" fmla="val 1911"/>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798A16F7-ED66-2C81-4504-B1A9C397CB25}"/>
              </a:ext>
            </a:extLst>
          </p:cNvPr>
          <p:cNvSpPr txBox="1"/>
          <p:nvPr/>
        </p:nvSpPr>
        <p:spPr>
          <a:xfrm>
            <a:off x="628268" y="565655"/>
            <a:ext cx="9523124" cy="369332"/>
          </a:xfrm>
          <a:prstGeom prst="rect">
            <a:avLst/>
          </a:prstGeom>
          <a:noFill/>
        </p:spPr>
        <p:txBody>
          <a:bodyPr wrap="square" rtlCol="0">
            <a:spAutoFit/>
          </a:bodyPr>
          <a:lstStyle/>
          <a:p>
            <a:r>
              <a:rPr lang="en-US" dirty="0"/>
              <a:t>Q7: How many customers are subscribed to the service?</a:t>
            </a:r>
          </a:p>
        </p:txBody>
      </p:sp>
      <p:pic>
        <p:nvPicPr>
          <p:cNvPr id="3" name="Picture 2">
            <a:extLst>
              <a:ext uri="{FF2B5EF4-FFF2-40B4-BE49-F238E27FC236}">
                <a16:creationId xmlns:a16="http://schemas.microsoft.com/office/drawing/2014/main" id="{615B6F31-8F4B-9A36-EFAB-5664034714C5}"/>
              </a:ext>
            </a:extLst>
          </p:cNvPr>
          <p:cNvPicPr>
            <a:picLocks noChangeAspect="1"/>
          </p:cNvPicPr>
          <p:nvPr/>
        </p:nvPicPr>
        <p:blipFill>
          <a:blip r:embed="rId2"/>
          <a:srcRect l="18209" r="18208"/>
          <a:stretch>
            <a:fillRect/>
          </a:stretch>
        </p:blipFill>
        <p:spPr>
          <a:xfrm>
            <a:off x="628268" y="1324969"/>
            <a:ext cx="3720975" cy="4389129"/>
          </a:xfrm>
          <a:prstGeom prst="rect">
            <a:avLst/>
          </a:prstGeom>
        </p:spPr>
      </p:pic>
      <p:sp>
        <p:nvSpPr>
          <p:cNvPr id="4" name="TextBox 3">
            <a:extLst>
              <a:ext uri="{FF2B5EF4-FFF2-40B4-BE49-F238E27FC236}">
                <a16:creationId xmlns:a16="http://schemas.microsoft.com/office/drawing/2014/main" id="{772BEC78-002E-53BC-6A7D-BEB1CA00FABA}"/>
              </a:ext>
            </a:extLst>
          </p:cNvPr>
          <p:cNvSpPr txBox="1"/>
          <p:nvPr/>
        </p:nvSpPr>
        <p:spPr>
          <a:xfrm>
            <a:off x="4657622" y="1362299"/>
            <a:ext cx="6906109" cy="2369880"/>
          </a:xfrm>
          <a:prstGeom prst="rect">
            <a:avLst/>
          </a:prstGeom>
          <a:noFill/>
        </p:spPr>
        <p:txBody>
          <a:bodyPr wrap="square" rtlCol="0">
            <a:spAutoFit/>
          </a:bodyPr>
          <a:lstStyle/>
          <a:p>
            <a:pPr algn="ctr"/>
            <a:r>
              <a:rPr lang="en-US" b="1" dirty="0"/>
              <a:t>Interpretation:</a:t>
            </a:r>
          </a:p>
          <a:p>
            <a:pPr algn="ctr"/>
            <a:endParaRPr lang="en-US" b="1" dirty="0"/>
          </a:p>
          <a:p>
            <a:pPr marL="285750" indent="-285750">
              <a:buFont typeface="Arial" panose="020B0604020202020204" pitchFamily="34" charset="0"/>
              <a:buChar char="•"/>
            </a:pPr>
            <a:r>
              <a:rPr lang="en-US" sz="1600" b="1" dirty="0"/>
              <a:t>Nearly two-thirds are not subscribed. By delivery time (~7 days), they are almost similar to premium customers; they don't need to pay any extra charge for that. This will reduce premium customers in future and feel disappointment for premium customers. </a:t>
            </a:r>
          </a:p>
          <a:p>
            <a:pPr marL="285750" indent="-285750">
              <a:buFont typeface="Arial" panose="020B0604020202020204" pitchFamily="34" charset="0"/>
              <a:buChar char="•"/>
            </a:pPr>
            <a:r>
              <a:rPr lang="en-US" sz="1600" b="1" dirty="0"/>
              <a:t>There are a huge number of customers who are free users. So that there is a chance to convert them into premium. But conversion is unlikely unless they see real value.</a:t>
            </a:r>
            <a:endParaRPr lang="en-US" sz="1700" dirty="0"/>
          </a:p>
        </p:txBody>
      </p:sp>
      <p:sp>
        <p:nvSpPr>
          <p:cNvPr id="5" name="TextBox 4">
            <a:extLst>
              <a:ext uri="{FF2B5EF4-FFF2-40B4-BE49-F238E27FC236}">
                <a16:creationId xmlns:a16="http://schemas.microsoft.com/office/drawing/2014/main" id="{1531E7F8-B391-7865-A85D-E3986B4292BC}"/>
              </a:ext>
            </a:extLst>
          </p:cNvPr>
          <p:cNvSpPr txBox="1"/>
          <p:nvPr/>
        </p:nvSpPr>
        <p:spPr>
          <a:xfrm>
            <a:off x="4657622" y="4037617"/>
            <a:ext cx="6906109" cy="1631216"/>
          </a:xfrm>
          <a:prstGeom prst="rect">
            <a:avLst/>
          </a:prstGeom>
          <a:noFill/>
        </p:spPr>
        <p:txBody>
          <a:bodyPr wrap="square" rtlCol="0">
            <a:spAutoFit/>
          </a:bodyPr>
          <a:lstStyle/>
          <a:p>
            <a:pPr algn="ctr"/>
            <a:r>
              <a:rPr lang="en-US" b="1" dirty="0"/>
              <a:t>Recommendation:</a:t>
            </a:r>
          </a:p>
          <a:p>
            <a:pPr algn="ctr"/>
            <a:endParaRPr lang="en-US" b="1" dirty="0"/>
          </a:p>
          <a:p>
            <a:pPr marL="285750" indent="-285750">
              <a:buFont typeface="Arial" panose="020B0604020202020204" pitchFamily="34" charset="0"/>
              <a:buChar char="•"/>
            </a:pPr>
            <a:r>
              <a:rPr lang="en-US" sz="1600" b="1" dirty="0"/>
              <a:t>Focus on improving delivery time, as discussed earlier.</a:t>
            </a:r>
          </a:p>
          <a:p>
            <a:pPr marL="285750" indent="-285750">
              <a:buFont typeface="Arial" panose="020B0604020202020204" pitchFamily="34" charset="0"/>
              <a:buChar char="•"/>
            </a:pPr>
            <a:r>
              <a:rPr lang="en-US" sz="1600" b="1" dirty="0"/>
              <a:t>Launch special conversion offers for standard customers to upgrade to premium, like:50% off the first month’s subscription fee</a:t>
            </a:r>
          </a:p>
          <a:p>
            <a:pPr marL="285750" indent="-285750">
              <a:buFont typeface="Arial" panose="020B0604020202020204" pitchFamily="34" charset="0"/>
              <a:buChar char="•"/>
            </a:pPr>
            <a:r>
              <a:rPr lang="en-US" sz="1600" b="1" dirty="0"/>
              <a:t>Fast delivery within 1–2 days upon upgrading to premium</a:t>
            </a:r>
            <a:endParaRPr lang="en-US" sz="1700" dirty="0"/>
          </a:p>
        </p:txBody>
      </p:sp>
    </p:spTree>
    <p:extLst>
      <p:ext uri="{BB962C8B-B14F-4D97-AF65-F5344CB8AC3E}">
        <p14:creationId xmlns:p14="http://schemas.microsoft.com/office/powerpoint/2010/main" val="18046558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E8B17-5B60-725A-BB60-6ED12E3C4783}"/>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C01561D3-1170-EFDF-4F15-51EE99F2E3DE}"/>
              </a:ext>
            </a:extLst>
          </p:cNvPr>
          <p:cNvSpPr/>
          <p:nvPr/>
        </p:nvSpPr>
        <p:spPr>
          <a:xfrm>
            <a:off x="319889" y="269341"/>
            <a:ext cx="11552222" cy="6319319"/>
          </a:xfrm>
          <a:prstGeom prst="roundRect">
            <a:avLst>
              <a:gd name="adj" fmla="val 1911"/>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421391FC-67AF-BE5B-BAC8-AB1E03231E9F}"/>
              </a:ext>
            </a:extLst>
          </p:cNvPr>
          <p:cNvSpPr txBox="1"/>
          <p:nvPr/>
        </p:nvSpPr>
        <p:spPr>
          <a:xfrm>
            <a:off x="628268" y="565655"/>
            <a:ext cx="9523124" cy="369332"/>
          </a:xfrm>
          <a:prstGeom prst="rect">
            <a:avLst/>
          </a:prstGeom>
          <a:noFill/>
        </p:spPr>
        <p:txBody>
          <a:bodyPr wrap="square" rtlCol="0">
            <a:spAutoFit/>
          </a:bodyPr>
          <a:lstStyle/>
          <a:p>
            <a:r>
              <a:rPr lang="en-US" dirty="0"/>
              <a:t>Q8: What percentage of customers used devices to make purchases? (Mobile, Desktop, Tablet)?</a:t>
            </a:r>
          </a:p>
        </p:txBody>
      </p:sp>
      <p:pic>
        <p:nvPicPr>
          <p:cNvPr id="9" name="Picture 8">
            <a:extLst>
              <a:ext uri="{FF2B5EF4-FFF2-40B4-BE49-F238E27FC236}">
                <a16:creationId xmlns:a16="http://schemas.microsoft.com/office/drawing/2014/main" id="{0B0A8814-6127-C5CD-C873-0A3D3D2EF2F4}"/>
              </a:ext>
            </a:extLst>
          </p:cNvPr>
          <p:cNvPicPr>
            <a:picLocks noChangeAspect="1"/>
          </p:cNvPicPr>
          <p:nvPr/>
        </p:nvPicPr>
        <p:blipFill>
          <a:blip r:embed="rId2"/>
          <a:stretch>
            <a:fillRect/>
          </a:stretch>
        </p:blipFill>
        <p:spPr>
          <a:xfrm>
            <a:off x="501522" y="1786245"/>
            <a:ext cx="4043320" cy="3736370"/>
          </a:xfrm>
          <a:prstGeom prst="rect">
            <a:avLst/>
          </a:prstGeom>
        </p:spPr>
      </p:pic>
      <p:sp>
        <p:nvSpPr>
          <p:cNvPr id="10" name="TextBox 9">
            <a:extLst>
              <a:ext uri="{FF2B5EF4-FFF2-40B4-BE49-F238E27FC236}">
                <a16:creationId xmlns:a16="http://schemas.microsoft.com/office/drawing/2014/main" id="{85B836B8-EBF7-11B1-CA00-4534ABD5E55E}"/>
              </a:ext>
            </a:extLst>
          </p:cNvPr>
          <p:cNvSpPr txBox="1"/>
          <p:nvPr/>
        </p:nvSpPr>
        <p:spPr>
          <a:xfrm>
            <a:off x="4617267" y="1163130"/>
            <a:ext cx="7209578" cy="3077766"/>
          </a:xfrm>
          <a:prstGeom prst="rect">
            <a:avLst/>
          </a:prstGeom>
          <a:noFill/>
        </p:spPr>
        <p:txBody>
          <a:bodyPr wrap="square" rtlCol="0">
            <a:spAutoFit/>
          </a:bodyPr>
          <a:lstStyle/>
          <a:p>
            <a:pPr algn="ctr"/>
            <a:r>
              <a:rPr lang="en-US" b="1" dirty="0"/>
              <a:t>Interpretation:</a:t>
            </a:r>
          </a:p>
          <a:p>
            <a:pPr marL="285750" indent="-285750">
              <a:buFont typeface="Arial" panose="020B0604020202020204" pitchFamily="34" charset="0"/>
              <a:buChar char="•"/>
            </a:pPr>
            <a:r>
              <a:rPr lang="en-US" sz="1600" b="1" dirty="0"/>
              <a:t>Every device's purchase orders are nearly the same, indicating this ecommerce is reaching every tech demographic, which is good for future marketing.</a:t>
            </a:r>
          </a:p>
          <a:p>
            <a:pPr marL="285750" indent="-285750">
              <a:buFont typeface="Arial" panose="020B0604020202020204" pitchFamily="34" charset="0"/>
              <a:buChar char="•"/>
            </a:pPr>
            <a:r>
              <a:rPr lang="en-US" sz="1600" b="1" dirty="0"/>
              <a:t>33.7% users are mobile indicating growing mobile commerce (</a:t>
            </a:r>
            <a:r>
              <a:rPr lang="en-US" sz="1600" b="1" dirty="0" err="1"/>
              <a:t>mCommerce</a:t>
            </a:r>
            <a:r>
              <a:rPr lang="en-US" sz="1600" b="1" dirty="0"/>
              <a:t>) trend</a:t>
            </a:r>
          </a:p>
          <a:p>
            <a:pPr marL="285750" indent="-285750">
              <a:buFont typeface="Arial" panose="020B0604020202020204" pitchFamily="34" charset="0"/>
              <a:buChar char="•"/>
            </a:pPr>
            <a:r>
              <a:rPr lang="en-US" sz="1600" b="1" dirty="0"/>
              <a:t>Mainly people use desktops for more in-depth browsing or bulk ordering. Could represent older, work-time shoppers, or users preferring large screens for detailed product purchasing</a:t>
            </a:r>
          </a:p>
          <a:p>
            <a:pPr marL="285750" indent="-285750">
              <a:buFont typeface="Arial" panose="020B0604020202020204" pitchFamily="34" charset="0"/>
              <a:buChar char="•"/>
            </a:pPr>
            <a:r>
              <a:rPr lang="en-US" sz="1600" b="1" dirty="0"/>
              <a:t>32.4% tablet users indicates the need for touch-optimized, responsive layouts across all screen sizes, ich indicates that buying customers are with multiple members; possibly they are friend or family</a:t>
            </a:r>
            <a:endParaRPr lang="en-US" sz="1700" dirty="0"/>
          </a:p>
        </p:txBody>
      </p:sp>
      <p:sp>
        <p:nvSpPr>
          <p:cNvPr id="11" name="TextBox 10">
            <a:extLst>
              <a:ext uri="{FF2B5EF4-FFF2-40B4-BE49-F238E27FC236}">
                <a16:creationId xmlns:a16="http://schemas.microsoft.com/office/drawing/2014/main" id="{E907B51D-5DB4-C0AB-B1FC-702AC684B913}"/>
              </a:ext>
            </a:extLst>
          </p:cNvPr>
          <p:cNvSpPr txBox="1"/>
          <p:nvPr/>
        </p:nvSpPr>
        <p:spPr>
          <a:xfrm>
            <a:off x="4617267" y="4431010"/>
            <a:ext cx="7209578" cy="1846659"/>
          </a:xfrm>
          <a:prstGeom prst="rect">
            <a:avLst/>
          </a:prstGeom>
          <a:noFill/>
        </p:spPr>
        <p:txBody>
          <a:bodyPr wrap="square" rtlCol="0">
            <a:spAutoFit/>
          </a:bodyPr>
          <a:lstStyle/>
          <a:p>
            <a:pPr algn="ctr"/>
            <a:r>
              <a:rPr lang="en-US" b="1" dirty="0"/>
              <a:t>Recommendation:</a:t>
            </a:r>
          </a:p>
          <a:p>
            <a:pPr marL="285750" indent="-285750">
              <a:buFont typeface="Arial" panose="020B0604020202020204" pitchFamily="34" charset="0"/>
              <a:buChar char="•"/>
            </a:pPr>
            <a:r>
              <a:rPr lang="en-US" sz="1600" b="1" dirty="0"/>
              <a:t>Focusing on UI/UX in every tech device for longer usability and better performance.</a:t>
            </a:r>
          </a:p>
          <a:p>
            <a:pPr marL="285750" indent="-285750">
              <a:buFont typeface="Arial" panose="020B0604020202020204" pitchFamily="34" charset="0"/>
              <a:buChar char="•"/>
            </a:pPr>
            <a:r>
              <a:rPr lang="en-US" sz="1600" b="1" dirty="0"/>
              <a:t>Increase Click-to-pay integration (Apple/Google Pay) for mobile users.</a:t>
            </a:r>
          </a:p>
          <a:p>
            <a:pPr marL="285750" indent="-285750">
              <a:buFont typeface="Arial" panose="020B0604020202020204" pitchFamily="34" charset="0"/>
              <a:buChar char="•"/>
            </a:pPr>
            <a:r>
              <a:rPr lang="en-US" sz="1600" b="1" dirty="0"/>
              <a:t>Use desktop pop-ups for larger purchases, like minimum 5 purchase ordering get 1 item free</a:t>
            </a:r>
          </a:p>
          <a:p>
            <a:pPr marL="285750" indent="-285750">
              <a:buFont typeface="Arial" panose="020B0604020202020204" pitchFamily="34" charset="0"/>
              <a:buChar char="•"/>
            </a:pPr>
            <a:r>
              <a:rPr lang="en-US" sz="1600" b="1" dirty="0"/>
              <a:t>Promote tablet-friendly bundles during holidays (used by families or kids).</a:t>
            </a:r>
            <a:endParaRPr lang="en-US" sz="1700" dirty="0"/>
          </a:p>
        </p:txBody>
      </p:sp>
    </p:spTree>
    <p:extLst>
      <p:ext uri="{BB962C8B-B14F-4D97-AF65-F5344CB8AC3E}">
        <p14:creationId xmlns:p14="http://schemas.microsoft.com/office/powerpoint/2010/main" val="35927998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9AF76-2F58-210F-EDD8-9CE000EA31EF}"/>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DA3E1F6C-5D65-8132-091F-E76CDD754EF1}"/>
              </a:ext>
            </a:extLst>
          </p:cNvPr>
          <p:cNvSpPr/>
          <p:nvPr/>
        </p:nvSpPr>
        <p:spPr>
          <a:xfrm>
            <a:off x="319889" y="269341"/>
            <a:ext cx="11552222" cy="6319319"/>
          </a:xfrm>
          <a:prstGeom prst="roundRect">
            <a:avLst>
              <a:gd name="adj" fmla="val 1911"/>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BE0B44C1-FE93-7B6A-D076-1856DE3E5CE0}"/>
              </a:ext>
            </a:extLst>
          </p:cNvPr>
          <p:cNvSpPr txBox="1"/>
          <p:nvPr/>
        </p:nvSpPr>
        <p:spPr>
          <a:xfrm>
            <a:off x="628267" y="565655"/>
            <a:ext cx="10598029" cy="646331"/>
          </a:xfrm>
          <a:prstGeom prst="rect">
            <a:avLst/>
          </a:prstGeom>
          <a:noFill/>
        </p:spPr>
        <p:txBody>
          <a:bodyPr wrap="square" rtlCol="0">
            <a:spAutoFit/>
          </a:bodyPr>
          <a:lstStyle/>
          <a:p>
            <a:r>
              <a:rPr lang="en-US" dirty="0"/>
              <a:t>Q9: What is the average purchase amount for customers who availed discounts compared to those who </a:t>
            </a:r>
            <a:r>
              <a:rPr lang="en-US" dirty="0" err="1"/>
              <a:t>didnʼt</a:t>
            </a:r>
            <a:r>
              <a:rPr lang="en-US" dirty="0"/>
              <a:t>?</a:t>
            </a:r>
          </a:p>
        </p:txBody>
      </p:sp>
      <p:pic>
        <p:nvPicPr>
          <p:cNvPr id="3" name="Picture 2">
            <a:extLst>
              <a:ext uri="{FF2B5EF4-FFF2-40B4-BE49-F238E27FC236}">
                <a16:creationId xmlns:a16="http://schemas.microsoft.com/office/drawing/2014/main" id="{125A9FBD-7CCB-AE16-C99D-13C06059DDBF}"/>
              </a:ext>
            </a:extLst>
          </p:cNvPr>
          <p:cNvPicPr>
            <a:picLocks noChangeAspect="1"/>
          </p:cNvPicPr>
          <p:nvPr/>
        </p:nvPicPr>
        <p:blipFill>
          <a:blip r:embed="rId2"/>
          <a:srcRect l="14866" r="16704"/>
          <a:stretch>
            <a:fillRect/>
          </a:stretch>
        </p:blipFill>
        <p:spPr>
          <a:xfrm>
            <a:off x="628267" y="1837853"/>
            <a:ext cx="3498640" cy="3818395"/>
          </a:xfrm>
          <a:prstGeom prst="rect">
            <a:avLst/>
          </a:prstGeom>
        </p:spPr>
      </p:pic>
      <p:sp>
        <p:nvSpPr>
          <p:cNvPr id="4" name="TextBox 3">
            <a:extLst>
              <a:ext uri="{FF2B5EF4-FFF2-40B4-BE49-F238E27FC236}">
                <a16:creationId xmlns:a16="http://schemas.microsoft.com/office/drawing/2014/main" id="{227F5309-C3DF-B6C0-F2F4-CE8AA380EA1F}"/>
              </a:ext>
            </a:extLst>
          </p:cNvPr>
          <p:cNvSpPr txBox="1"/>
          <p:nvPr/>
        </p:nvSpPr>
        <p:spPr>
          <a:xfrm>
            <a:off x="4255130" y="1211986"/>
            <a:ext cx="7308602" cy="2585323"/>
          </a:xfrm>
          <a:prstGeom prst="rect">
            <a:avLst/>
          </a:prstGeom>
          <a:noFill/>
        </p:spPr>
        <p:txBody>
          <a:bodyPr wrap="square" rtlCol="0">
            <a:spAutoFit/>
          </a:bodyPr>
          <a:lstStyle/>
          <a:p>
            <a:pPr algn="ctr"/>
            <a:r>
              <a:rPr lang="en-US" b="1" dirty="0"/>
              <a:t>Interpretation:</a:t>
            </a:r>
          </a:p>
          <a:p>
            <a:pPr algn="ctr"/>
            <a:endParaRPr lang="en-US" b="1" dirty="0"/>
          </a:p>
          <a:p>
            <a:pPr marL="285750" indent="-285750">
              <a:buFont typeface="Arial" panose="020B0604020202020204" pitchFamily="34" charset="0"/>
              <a:buChar char="•"/>
            </a:pPr>
            <a:r>
              <a:rPr lang="en-US" dirty="0"/>
              <a:t>Almost half of the customers buy from this platform when they get any discount. It indicates those free customers who don't use any premium subscription.</a:t>
            </a:r>
          </a:p>
          <a:p>
            <a:pPr marL="285750" indent="-285750">
              <a:buFont typeface="Arial" panose="020B0604020202020204" pitchFamily="34" charset="0"/>
              <a:buChar char="•"/>
            </a:pPr>
            <a:r>
              <a:rPr lang="en-US" dirty="0"/>
              <a:t>There a chance of new customers in the platform. There are huge chance to make them regular customers by engaging them</a:t>
            </a:r>
          </a:p>
          <a:p>
            <a:pPr marL="285750" indent="-285750">
              <a:buFont typeface="Arial" panose="020B0604020202020204" pitchFamily="34" charset="0"/>
              <a:buChar char="•"/>
            </a:pPr>
            <a:r>
              <a:rPr lang="en-US" dirty="0"/>
              <a:t>People comes here not for their daily needs but only when they get a discount.</a:t>
            </a:r>
          </a:p>
        </p:txBody>
      </p:sp>
      <p:sp>
        <p:nvSpPr>
          <p:cNvPr id="5" name="TextBox 4">
            <a:extLst>
              <a:ext uri="{FF2B5EF4-FFF2-40B4-BE49-F238E27FC236}">
                <a16:creationId xmlns:a16="http://schemas.microsoft.com/office/drawing/2014/main" id="{C86C8B14-BEA2-A3BE-B8E9-D17B1C5D4A8B}"/>
              </a:ext>
            </a:extLst>
          </p:cNvPr>
          <p:cNvSpPr txBox="1"/>
          <p:nvPr/>
        </p:nvSpPr>
        <p:spPr>
          <a:xfrm>
            <a:off x="4255130" y="3900323"/>
            <a:ext cx="7469108" cy="2585323"/>
          </a:xfrm>
          <a:prstGeom prst="rect">
            <a:avLst/>
          </a:prstGeom>
          <a:noFill/>
        </p:spPr>
        <p:txBody>
          <a:bodyPr wrap="square" rtlCol="0">
            <a:spAutoFit/>
          </a:bodyPr>
          <a:lstStyle/>
          <a:p>
            <a:pPr algn="ctr"/>
            <a:r>
              <a:rPr lang="en-US" b="1" dirty="0"/>
              <a:t>Recommendation:</a:t>
            </a:r>
          </a:p>
          <a:p>
            <a:pPr algn="ctr"/>
            <a:endParaRPr lang="en-US" b="1" dirty="0"/>
          </a:p>
          <a:p>
            <a:pPr marL="285750" indent="-285750">
              <a:buFont typeface="Arial" panose="020B0604020202020204" pitchFamily="34" charset="0"/>
              <a:buChar char="•"/>
            </a:pPr>
            <a:r>
              <a:rPr lang="en-US" dirty="0"/>
              <a:t>Purchase amounts don't increase significantly; don't give flat discounts on single products. Introduce tiered discounts or combo sales.</a:t>
            </a:r>
          </a:p>
          <a:p>
            <a:pPr marL="285750" indent="-285750">
              <a:buFont typeface="Arial" panose="020B0604020202020204" pitchFamily="34" charset="0"/>
              <a:buChar char="•"/>
            </a:pPr>
            <a:r>
              <a:rPr lang="en-US" dirty="0"/>
              <a:t>When newcomers buy something from this platform, offer them related things that they may need. Like, some newcomers buy a charger; suggest them to buy a ring light.</a:t>
            </a:r>
          </a:p>
          <a:p>
            <a:pPr marL="285750" indent="-285750">
              <a:buFont typeface="Arial" panose="020B0604020202020204" pitchFamily="34" charset="0"/>
              <a:buChar char="•"/>
            </a:pPr>
            <a:r>
              <a:rPr lang="en-US" dirty="0"/>
              <a:t>Both recommendations are not only help to consist them in the platform but also push o push beauty category which have orders</a:t>
            </a:r>
            <a:endParaRPr lang="en-US" sz="1700" dirty="0"/>
          </a:p>
        </p:txBody>
      </p:sp>
    </p:spTree>
    <p:extLst>
      <p:ext uri="{BB962C8B-B14F-4D97-AF65-F5344CB8AC3E}">
        <p14:creationId xmlns:p14="http://schemas.microsoft.com/office/powerpoint/2010/main" val="4914973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DCFB4-ABE5-434E-6CFE-8D9074B593B7}"/>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1C89934C-7104-5195-9ABA-288B0C58BDDD}"/>
              </a:ext>
            </a:extLst>
          </p:cNvPr>
          <p:cNvSpPr/>
          <p:nvPr/>
        </p:nvSpPr>
        <p:spPr>
          <a:xfrm>
            <a:off x="319889" y="269341"/>
            <a:ext cx="11552222" cy="6319319"/>
          </a:xfrm>
          <a:prstGeom prst="roundRect">
            <a:avLst>
              <a:gd name="adj" fmla="val 1911"/>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03DB928-8E54-D26E-DC34-2F98A6769306}"/>
              </a:ext>
            </a:extLst>
          </p:cNvPr>
          <p:cNvSpPr txBox="1"/>
          <p:nvPr/>
        </p:nvSpPr>
        <p:spPr>
          <a:xfrm>
            <a:off x="628267" y="427497"/>
            <a:ext cx="10598029" cy="369332"/>
          </a:xfrm>
          <a:prstGeom prst="rect">
            <a:avLst/>
          </a:prstGeom>
          <a:noFill/>
        </p:spPr>
        <p:txBody>
          <a:bodyPr wrap="square" rtlCol="0">
            <a:spAutoFit/>
          </a:bodyPr>
          <a:lstStyle/>
          <a:p>
            <a:r>
              <a:rPr lang="en-US" dirty="0"/>
              <a:t>Q10: What is the most common payment method used by customers?</a:t>
            </a:r>
          </a:p>
        </p:txBody>
      </p:sp>
      <p:pic>
        <p:nvPicPr>
          <p:cNvPr id="3" name="Picture 2">
            <a:extLst>
              <a:ext uri="{FF2B5EF4-FFF2-40B4-BE49-F238E27FC236}">
                <a16:creationId xmlns:a16="http://schemas.microsoft.com/office/drawing/2014/main" id="{9E345E58-941D-CE0B-5CC1-E3042AE10D58}"/>
              </a:ext>
            </a:extLst>
          </p:cNvPr>
          <p:cNvPicPr>
            <a:picLocks noChangeAspect="1"/>
          </p:cNvPicPr>
          <p:nvPr/>
        </p:nvPicPr>
        <p:blipFill>
          <a:blip r:embed="rId2"/>
          <a:srcRect t="2852"/>
          <a:stretch>
            <a:fillRect/>
          </a:stretch>
        </p:blipFill>
        <p:spPr>
          <a:xfrm>
            <a:off x="2662167" y="796829"/>
            <a:ext cx="6867667" cy="1889800"/>
          </a:xfrm>
          <a:prstGeom prst="rect">
            <a:avLst/>
          </a:prstGeom>
        </p:spPr>
      </p:pic>
      <p:sp>
        <p:nvSpPr>
          <p:cNvPr id="4" name="TextBox 3">
            <a:extLst>
              <a:ext uri="{FF2B5EF4-FFF2-40B4-BE49-F238E27FC236}">
                <a16:creationId xmlns:a16="http://schemas.microsoft.com/office/drawing/2014/main" id="{EEC27C07-7905-5E55-DADA-0AC924EA416D}"/>
              </a:ext>
            </a:extLst>
          </p:cNvPr>
          <p:cNvSpPr txBox="1"/>
          <p:nvPr/>
        </p:nvSpPr>
        <p:spPr>
          <a:xfrm>
            <a:off x="628267" y="2769415"/>
            <a:ext cx="10896793" cy="1846659"/>
          </a:xfrm>
          <a:prstGeom prst="rect">
            <a:avLst/>
          </a:prstGeom>
          <a:noFill/>
        </p:spPr>
        <p:txBody>
          <a:bodyPr wrap="square" rtlCol="0">
            <a:spAutoFit/>
          </a:bodyPr>
          <a:lstStyle/>
          <a:p>
            <a:pPr algn="ctr"/>
            <a:r>
              <a:rPr lang="en-US" b="1" dirty="0"/>
              <a:t>Interpretation:</a:t>
            </a:r>
          </a:p>
          <a:p>
            <a:pPr marL="285750" indent="-285750">
              <a:buFont typeface="Arial" panose="020B0604020202020204" pitchFamily="34" charset="0"/>
              <a:buChar char="•"/>
            </a:pPr>
            <a:r>
              <a:rPr lang="en-US" sz="1600" dirty="0"/>
              <a:t>The most common payment method is bank transfer, that the process might be favorable for customers, as they trust it more for making payments. These customers are possibly close to the median age and are tech-savvy.</a:t>
            </a:r>
          </a:p>
          <a:p>
            <a:pPr marL="285750" indent="-285750">
              <a:buFont typeface="Arial" panose="020B0604020202020204" pitchFamily="34" charset="0"/>
              <a:buChar char="•"/>
            </a:pPr>
            <a:r>
              <a:rPr lang="en-US" sz="1600" dirty="0"/>
              <a:t>Also, the PayPal payment system is slightly less popular. There is a limitation in this country or that it is too techy to use it.</a:t>
            </a:r>
          </a:p>
          <a:p>
            <a:pPr marL="285750" indent="-285750">
              <a:buFont typeface="Arial" panose="020B0604020202020204" pitchFamily="34" charset="0"/>
              <a:buChar char="•"/>
            </a:pPr>
            <a:r>
              <a:rPr lang="en-US" sz="1600" dirty="0"/>
              <a:t>Credit card users are also popular, with 39 different users, means a bunch of users are there who are familiar with "buy first, then pay." Possibly they are monthly job holders.</a:t>
            </a:r>
            <a:endParaRPr lang="en-US" dirty="0"/>
          </a:p>
        </p:txBody>
      </p:sp>
      <p:sp>
        <p:nvSpPr>
          <p:cNvPr id="5" name="TextBox 4">
            <a:extLst>
              <a:ext uri="{FF2B5EF4-FFF2-40B4-BE49-F238E27FC236}">
                <a16:creationId xmlns:a16="http://schemas.microsoft.com/office/drawing/2014/main" id="{D3AB5D66-3043-84F1-8BD1-F174D7172424}"/>
              </a:ext>
            </a:extLst>
          </p:cNvPr>
          <p:cNvSpPr txBox="1"/>
          <p:nvPr/>
        </p:nvSpPr>
        <p:spPr>
          <a:xfrm>
            <a:off x="666940" y="4795082"/>
            <a:ext cx="10896793" cy="1661993"/>
          </a:xfrm>
          <a:prstGeom prst="rect">
            <a:avLst/>
          </a:prstGeom>
          <a:noFill/>
        </p:spPr>
        <p:txBody>
          <a:bodyPr wrap="square" rtlCol="0">
            <a:spAutoFit/>
          </a:bodyPr>
          <a:lstStyle/>
          <a:p>
            <a:pPr algn="ctr"/>
            <a:r>
              <a:rPr lang="en-US" dirty="0"/>
              <a:t>Recommendations:</a:t>
            </a:r>
          </a:p>
          <a:p>
            <a:pPr marL="285750" indent="-285750">
              <a:buFont typeface="Arial" panose="020B0604020202020204" pitchFamily="34" charset="0"/>
              <a:buChar char="•"/>
            </a:pPr>
            <a:r>
              <a:rPr lang="en-US" sz="1600" dirty="0"/>
              <a:t>Enhance the user experience (UX) for bank transfer users to keep them on the platform. Collaborate with the most-used banks to provide exclusive offers to these customers.</a:t>
            </a:r>
          </a:p>
          <a:p>
            <a:pPr marL="285750" indent="-285750">
              <a:buFont typeface="Arial" panose="020B0604020202020204" pitchFamily="34" charset="0"/>
              <a:buChar char="•"/>
            </a:pPr>
            <a:r>
              <a:rPr lang="en-US" sz="1600" dirty="0"/>
              <a:t>Additionally, increase engagement among credit card users by offering attractive promotions.</a:t>
            </a:r>
          </a:p>
          <a:p>
            <a:pPr marL="285750" indent="-285750">
              <a:buFont typeface="Arial" panose="020B0604020202020204" pitchFamily="34" charset="0"/>
              <a:buChar char="•"/>
            </a:pPr>
            <a:r>
              <a:rPr lang="en-US" sz="1600" dirty="0"/>
              <a:t>Consider launching special delivery offers in areas with a high concentration of workplaces, as this could lead to better conversion and lower return rates. It also helps in taking orders for office items.</a:t>
            </a:r>
            <a:endParaRPr lang="en-US" dirty="0"/>
          </a:p>
        </p:txBody>
      </p:sp>
    </p:spTree>
    <p:extLst>
      <p:ext uri="{BB962C8B-B14F-4D97-AF65-F5344CB8AC3E}">
        <p14:creationId xmlns:p14="http://schemas.microsoft.com/office/powerpoint/2010/main" val="17573813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3C95C-B733-7B89-4715-1763DB7E6B1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2CEA5E8-374C-7E81-F57E-CBF536AAEEF0}"/>
              </a:ext>
            </a:extLst>
          </p:cNvPr>
          <p:cNvSpPr/>
          <p:nvPr/>
        </p:nvSpPr>
        <p:spPr>
          <a:xfrm>
            <a:off x="785397" y="786951"/>
            <a:ext cx="10621206" cy="5284098"/>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D003BFB-2DFB-5F65-4D54-A027CE72F973}"/>
              </a:ext>
            </a:extLst>
          </p:cNvPr>
          <p:cNvSpPr txBox="1"/>
          <p:nvPr/>
        </p:nvSpPr>
        <p:spPr>
          <a:xfrm>
            <a:off x="1334438" y="3013501"/>
            <a:ext cx="9523124" cy="830997"/>
          </a:xfrm>
          <a:prstGeom prst="rect">
            <a:avLst/>
          </a:prstGeom>
          <a:noFill/>
        </p:spPr>
        <p:txBody>
          <a:bodyPr wrap="square" rtlCol="0">
            <a:spAutoFit/>
          </a:bodyPr>
          <a:lstStyle/>
          <a:p>
            <a:pPr algn="ctr"/>
            <a:r>
              <a:rPr lang="en-US" sz="4800" b="1" u="dashLong" dirty="0"/>
              <a:t>Intermediate Insights</a:t>
            </a:r>
            <a:endParaRPr lang="en-US" sz="4800" u="dashLong" dirty="0"/>
          </a:p>
        </p:txBody>
      </p:sp>
    </p:spTree>
    <p:extLst>
      <p:ext uri="{BB962C8B-B14F-4D97-AF65-F5344CB8AC3E}">
        <p14:creationId xmlns:p14="http://schemas.microsoft.com/office/powerpoint/2010/main" val="34688552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AADA4-552F-9A9C-3905-C74EDB170EC6}"/>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709889A5-2696-9B05-9008-38705C5B3C0A}"/>
              </a:ext>
            </a:extLst>
          </p:cNvPr>
          <p:cNvSpPr/>
          <p:nvPr/>
        </p:nvSpPr>
        <p:spPr>
          <a:xfrm>
            <a:off x="319889" y="269341"/>
            <a:ext cx="11552222" cy="6319319"/>
          </a:xfrm>
          <a:prstGeom prst="roundRect">
            <a:avLst>
              <a:gd name="adj" fmla="val 1911"/>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E985EE4C-7A11-928C-E020-A6F2F0386812}"/>
              </a:ext>
            </a:extLst>
          </p:cNvPr>
          <p:cNvSpPr txBox="1"/>
          <p:nvPr/>
        </p:nvSpPr>
        <p:spPr>
          <a:xfrm>
            <a:off x="628267" y="565655"/>
            <a:ext cx="10598029" cy="369332"/>
          </a:xfrm>
          <a:prstGeom prst="rect">
            <a:avLst/>
          </a:prstGeom>
          <a:noFill/>
        </p:spPr>
        <p:txBody>
          <a:bodyPr wrap="square" rtlCol="0">
            <a:spAutoFit/>
          </a:bodyPr>
          <a:lstStyle/>
          <a:p>
            <a:r>
              <a:rPr lang="en-US" dirty="0"/>
              <a:t>Q1: What are the average review scores of users of the most common payment method?</a:t>
            </a:r>
          </a:p>
        </p:txBody>
      </p:sp>
      <p:pic>
        <p:nvPicPr>
          <p:cNvPr id="3" name="Picture 2">
            <a:extLst>
              <a:ext uri="{FF2B5EF4-FFF2-40B4-BE49-F238E27FC236}">
                <a16:creationId xmlns:a16="http://schemas.microsoft.com/office/drawing/2014/main" id="{027D32EC-5DAC-211C-04D7-00B3A770939C}"/>
              </a:ext>
            </a:extLst>
          </p:cNvPr>
          <p:cNvPicPr>
            <a:picLocks noChangeAspect="1"/>
          </p:cNvPicPr>
          <p:nvPr/>
        </p:nvPicPr>
        <p:blipFill>
          <a:blip r:embed="rId2"/>
          <a:srcRect b="2629"/>
          <a:stretch>
            <a:fillRect/>
          </a:stretch>
        </p:blipFill>
        <p:spPr>
          <a:xfrm>
            <a:off x="2773378" y="944040"/>
            <a:ext cx="6645244" cy="1925909"/>
          </a:xfrm>
          <a:prstGeom prst="rect">
            <a:avLst/>
          </a:prstGeom>
        </p:spPr>
      </p:pic>
      <p:sp>
        <p:nvSpPr>
          <p:cNvPr id="4" name="TextBox 3">
            <a:extLst>
              <a:ext uri="{FF2B5EF4-FFF2-40B4-BE49-F238E27FC236}">
                <a16:creationId xmlns:a16="http://schemas.microsoft.com/office/drawing/2014/main" id="{6203A2D5-C990-1A5B-14A3-CC123993B118}"/>
              </a:ext>
            </a:extLst>
          </p:cNvPr>
          <p:cNvSpPr txBox="1"/>
          <p:nvPr/>
        </p:nvSpPr>
        <p:spPr>
          <a:xfrm>
            <a:off x="628267" y="3280063"/>
            <a:ext cx="10896793" cy="1138773"/>
          </a:xfrm>
          <a:prstGeom prst="rect">
            <a:avLst/>
          </a:prstGeom>
          <a:noFill/>
        </p:spPr>
        <p:txBody>
          <a:bodyPr wrap="square" rtlCol="0">
            <a:spAutoFit/>
          </a:bodyPr>
          <a:lstStyle/>
          <a:p>
            <a:pPr algn="ctr"/>
            <a:r>
              <a:rPr lang="en-US" b="1" dirty="0"/>
              <a:t>Interpretation:</a:t>
            </a:r>
          </a:p>
          <a:p>
            <a:pPr algn="ctr"/>
            <a:endParaRPr lang="en-US" b="1" dirty="0"/>
          </a:p>
          <a:p>
            <a:pPr marL="285750" indent="-285750">
              <a:buFont typeface="Arial" panose="020B0604020202020204" pitchFamily="34" charset="0"/>
              <a:buChar char="•"/>
            </a:pPr>
            <a:r>
              <a:rPr lang="en-US" sz="1600" dirty="0"/>
              <a:t>The review score for Cash on Delivery is around 3, indicating lower customer satisfaction. These users are possibly first-time buyers. The dissatisfaction could be due to long delivery times, damaged products, or payment-related hassles.</a:t>
            </a:r>
            <a:endParaRPr lang="en-US" dirty="0"/>
          </a:p>
        </p:txBody>
      </p:sp>
      <p:sp>
        <p:nvSpPr>
          <p:cNvPr id="5" name="TextBox 4">
            <a:extLst>
              <a:ext uri="{FF2B5EF4-FFF2-40B4-BE49-F238E27FC236}">
                <a16:creationId xmlns:a16="http://schemas.microsoft.com/office/drawing/2014/main" id="{EFF584DC-AC08-88E9-DD2F-4AB0041723D0}"/>
              </a:ext>
            </a:extLst>
          </p:cNvPr>
          <p:cNvSpPr txBox="1"/>
          <p:nvPr/>
        </p:nvSpPr>
        <p:spPr>
          <a:xfrm>
            <a:off x="628266" y="4619738"/>
            <a:ext cx="10896793" cy="1477328"/>
          </a:xfrm>
          <a:prstGeom prst="rect">
            <a:avLst/>
          </a:prstGeom>
          <a:noFill/>
        </p:spPr>
        <p:txBody>
          <a:bodyPr wrap="square" rtlCol="0">
            <a:spAutoFit/>
          </a:bodyPr>
          <a:lstStyle/>
          <a:p>
            <a:pPr algn="ctr"/>
            <a:r>
              <a:rPr lang="en-US" dirty="0"/>
              <a:t>Recommendation:</a:t>
            </a:r>
          </a:p>
          <a:p>
            <a:pPr algn="ctr"/>
            <a:endParaRPr lang="en-US" dirty="0"/>
          </a:p>
          <a:p>
            <a:pPr algn="ctr"/>
            <a:r>
              <a:rPr lang="en-US" dirty="0"/>
              <a:t>Improve the Cash on Delivery (COD) system by addressing key issues such as poor communication and delivery delays, especially for first-time customers. To build trust, highlight features like easy refunds, verified tracking, and positive customer reviews.</a:t>
            </a:r>
          </a:p>
        </p:txBody>
      </p:sp>
    </p:spTree>
    <p:extLst>
      <p:ext uri="{BB962C8B-B14F-4D97-AF65-F5344CB8AC3E}">
        <p14:creationId xmlns:p14="http://schemas.microsoft.com/office/powerpoint/2010/main" val="3178966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860BE-4828-A6AE-CC2B-CCF574FD57A0}"/>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9980D22C-8A26-D10E-593A-7F0694B7EAAF}"/>
              </a:ext>
            </a:extLst>
          </p:cNvPr>
          <p:cNvSpPr/>
          <p:nvPr/>
        </p:nvSpPr>
        <p:spPr>
          <a:xfrm>
            <a:off x="319889" y="269341"/>
            <a:ext cx="11552222" cy="6319319"/>
          </a:xfrm>
          <a:prstGeom prst="roundRect">
            <a:avLst>
              <a:gd name="adj" fmla="val 1911"/>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A2C7817-F79D-5872-D5E9-3A57BCB8F33C}"/>
              </a:ext>
            </a:extLst>
          </p:cNvPr>
          <p:cNvSpPr txBox="1"/>
          <p:nvPr/>
        </p:nvSpPr>
        <p:spPr>
          <a:xfrm>
            <a:off x="628267" y="565655"/>
            <a:ext cx="10598029" cy="646331"/>
          </a:xfrm>
          <a:prstGeom prst="rect">
            <a:avLst/>
          </a:prstGeom>
          <a:noFill/>
        </p:spPr>
        <p:txBody>
          <a:bodyPr wrap="square" rtlCol="0">
            <a:spAutoFit/>
          </a:bodyPr>
          <a:lstStyle/>
          <a:p>
            <a:r>
              <a:rPr lang="en-US" dirty="0"/>
              <a:t>Q2: What is the correlation between time spent on the website and purchase amount? Do customers who spend more time on the website purchase more items?</a:t>
            </a:r>
          </a:p>
        </p:txBody>
      </p:sp>
      <p:pic>
        <p:nvPicPr>
          <p:cNvPr id="3" name="Picture 2">
            <a:extLst>
              <a:ext uri="{FF2B5EF4-FFF2-40B4-BE49-F238E27FC236}">
                <a16:creationId xmlns:a16="http://schemas.microsoft.com/office/drawing/2014/main" id="{1B8AAF2B-AC35-613B-E953-C02F8D761AF8}"/>
              </a:ext>
            </a:extLst>
          </p:cNvPr>
          <p:cNvPicPr>
            <a:picLocks noChangeAspect="1"/>
          </p:cNvPicPr>
          <p:nvPr/>
        </p:nvPicPr>
        <p:blipFill>
          <a:blip r:embed="rId2"/>
          <a:stretch>
            <a:fillRect/>
          </a:stretch>
        </p:blipFill>
        <p:spPr>
          <a:xfrm>
            <a:off x="628267" y="1674326"/>
            <a:ext cx="3810000" cy="2857500"/>
          </a:xfrm>
          <a:prstGeom prst="rect">
            <a:avLst/>
          </a:prstGeom>
        </p:spPr>
      </p:pic>
      <p:sp>
        <p:nvSpPr>
          <p:cNvPr id="4" name="TextBox 3">
            <a:extLst>
              <a:ext uri="{FF2B5EF4-FFF2-40B4-BE49-F238E27FC236}">
                <a16:creationId xmlns:a16="http://schemas.microsoft.com/office/drawing/2014/main" id="{B20AFA26-5B5A-AEAC-DBBE-6E7311E64C89}"/>
              </a:ext>
            </a:extLst>
          </p:cNvPr>
          <p:cNvSpPr txBox="1"/>
          <p:nvPr/>
        </p:nvSpPr>
        <p:spPr>
          <a:xfrm>
            <a:off x="4746645" y="1777088"/>
            <a:ext cx="6217102" cy="1877437"/>
          </a:xfrm>
          <a:prstGeom prst="rect">
            <a:avLst/>
          </a:prstGeom>
          <a:noFill/>
        </p:spPr>
        <p:txBody>
          <a:bodyPr wrap="square" rtlCol="0">
            <a:spAutoFit/>
          </a:bodyPr>
          <a:lstStyle/>
          <a:p>
            <a:pPr algn="ctr"/>
            <a:r>
              <a:rPr lang="en-US" b="1" dirty="0"/>
              <a:t>Interpretation:</a:t>
            </a:r>
          </a:p>
          <a:p>
            <a:pPr algn="ctr"/>
            <a:endParaRPr lang="en-US" b="1" dirty="0"/>
          </a:p>
          <a:p>
            <a:pPr marL="285750" indent="-285750">
              <a:buFont typeface="Arial" panose="020B0604020202020204" pitchFamily="34" charset="0"/>
              <a:buChar char="•"/>
            </a:pPr>
            <a:r>
              <a:rPr lang="en-US" sz="1600" dirty="0"/>
              <a:t>There is no correlation between time spent on the website and purchase amount.</a:t>
            </a:r>
          </a:p>
          <a:p>
            <a:pPr marL="285750" indent="-285750">
              <a:buFont typeface="Arial" panose="020B0604020202020204" pitchFamily="34" charset="0"/>
              <a:buChar char="•"/>
            </a:pPr>
            <a:r>
              <a:rPr lang="en-US" sz="1600" dirty="0"/>
              <a:t>Spending more time doesn’t lead to higher spending Customers are likely buying quickly, not browsing deeply. </a:t>
            </a:r>
          </a:p>
          <a:p>
            <a:pPr marL="285750" indent="-285750">
              <a:buFont typeface="Arial" panose="020B0604020202020204" pitchFamily="34" charset="0"/>
              <a:buChar char="•"/>
            </a:pPr>
            <a:r>
              <a:rPr lang="en-US" sz="1600" dirty="0"/>
              <a:t>There may be UI/UX confusing or disengagement.</a:t>
            </a:r>
            <a:endParaRPr lang="en-US" dirty="0"/>
          </a:p>
        </p:txBody>
      </p:sp>
      <p:sp>
        <p:nvSpPr>
          <p:cNvPr id="5" name="TextBox 4">
            <a:extLst>
              <a:ext uri="{FF2B5EF4-FFF2-40B4-BE49-F238E27FC236}">
                <a16:creationId xmlns:a16="http://schemas.microsoft.com/office/drawing/2014/main" id="{68D85D15-2E8B-CEEA-BC18-7E108DA6DEA4}"/>
              </a:ext>
            </a:extLst>
          </p:cNvPr>
          <p:cNvSpPr txBox="1"/>
          <p:nvPr/>
        </p:nvSpPr>
        <p:spPr>
          <a:xfrm>
            <a:off x="4746645" y="4094637"/>
            <a:ext cx="6627134" cy="1477328"/>
          </a:xfrm>
          <a:prstGeom prst="rect">
            <a:avLst/>
          </a:prstGeom>
          <a:noFill/>
        </p:spPr>
        <p:txBody>
          <a:bodyPr wrap="square" rtlCol="0">
            <a:spAutoFit/>
          </a:bodyPr>
          <a:lstStyle/>
          <a:p>
            <a:pPr algn="ctr"/>
            <a:r>
              <a:rPr lang="en-US" dirty="0"/>
              <a:t>Recommendation:</a:t>
            </a:r>
          </a:p>
          <a:p>
            <a:endParaRPr lang="en-US" dirty="0"/>
          </a:p>
          <a:p>
            <a:pPr marL="285750" indent="-285750">
              <a:buFont typeface="Arial" panose="020B0604020202020204" pitchFamily="34" charset="0"/>
              <a:buChar char="•"/>
            </a:pPr>
            <a:r>
              <a:rPr lang="en-US" dirty="0"/>
              <a:t>Improve Product recommendations:</a:t>
            </a:r>
          </a:p>
          <a:p>
            <a:pPr marL="742950" lvl="1" indent="-285750">
              <a:buFont typeface="Wingdings" panose="05000000000000000000" pitchFamily="2" charset="2"/>
              <a:buChar char="§"/>
            </a:pPr>
            <a:r>
              <a:rPr lang="en-US" dirty="0"/>
              <a:t>Add Smart search, filters, and personalization by Highlighting trending or “people also bought” products</a:t>
            </a:r>
          </a:p>
        </p:txBody>
      </p:sp>
    </p:spTree>
    <p:extLst>
      <p:ext uri="{BB962C8B-B14F-4D97-AF65-F5344CB8AC3E}">
        <p14:creationId xmlns:p14="http://schemas.microsoft.com/office/powerpoint/2010/main" val="1190977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2D869-8DC4-D4C1-88E0-D3B816AE3847}"/>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50E7BC39-B1A0-F13C-B29F-DA5A8BC32738}"/>
              </a:ext>
            </a:extLst>
          </p:cNvPr>
          <p:cNvSpPr/>
          <p:nvPr/>
        </p:nvSpPr>
        <p:spPr>
          <a:xfrm>
            <a:off x="319889" y="269341"/>
            <a:ext cx="11552222" cy="6319319"/>
          </a:xfrm>
          <a:prstGeom prst="roundRect">
            <a:avLst>
              <a:gd name="adj" fmla="val 1911"/>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3362DAA-3830-24DD-9310-044A67574E8C}"/>
              </a:ext>
            </a:extLst>
          </p:cNvPr>
          <p:cNvSpPr txBox="1"/>
          <p:nvPr/>
        </p:nvSpPr>
        <p:spPr>
          <a:xfrm>
            <a:off x="628267" y="565655"/>
            <a:ext cx="10598029" cy="369332"/>
          </a:xfrm>
          <a:prstGeom prst="rect">
            <a:avLst/>
          </a:prstGeom>
          <a:noFill/>
        </p:spPr>
        <p:txBody>
          <a:bodyPr wrap="square" rtlCol="0">
            <a:spAutoFit/>
          </a:bodyPr>
          <a:lstStyle/>
          <a:p>
            <a:r>
              <a:rPr lang="en-US" dirty="0"/>
              <a:t>Q3: What percentage of customers are satisfied (rating of 4 or 5) and are also return customers?</a:t>
            </a:r>
          </a:p>
        </p:txBody>
      </p:sp>
      <p:pic>
        <p:nvPicPr>
          <p:cNvPr id="3" name="Picture 2">
            <a:extLst>
              <a:ext uri="{FF2B5EF4-FFF2-40B4-BE49-F238E27FC236}">
                <a16:creationId xmlns:a16="http://schemas.microsoft.com/office/drawing/2014/main" id="{ED983A7F-0E88-8230-5498-5B7D3161A1B7}"/>
              </a:ext>
            </a:extLst>
          </p:cNvPr>
          <p:cNvPicPr>
            <a:picLocks noChangeAspect="1"/>
          </p:cNvPicPr>
          <p:nvPr/>
        </p:nvPicPr>
        <p:blipFill>
          <a:blip r:embed="rId2"/>
          <a:stretch>
            <a:fillRect/>
          </a:stretch>
        </p:blipFill>
        <p:spPr>
          <a:xfrm>
            <a:off x="628267" y="1682715"/>
            <a:ext cx="4586529" cy="3492569"/>
          </a:xfrm>
          <a:prstGeom prst="rect">
            <a:avLst/>
          </a:prstGeom>
        </p:spPr>
      </p:pic>
      <p:sp>
        <p:nvSpPr>
          <p:cNvPr id="4" name="TextBox 3">
            <a:extLst>
              <a:ext uri="{FF2B5EF4-FFF2-40B4-BE49-F238E27FC236}">
                <a16:creationId xmlns:a16="http://schemas.microsoft.com/office/drawing/2014/main" id="{56A31A97-7679-430A-8093-BC70702A6C83}"/>
              </a:ext>
            </a:extLst>
          </p:cNvPr>
          <p:cNvSpPr txBox="1"/>
          <p:nvPr/>
        </p:nvSpPr>
        <p:spPr>
          <a:xfrm>
            <a:off x="5346629" y="1551562"/>
            <a:ext cx="6217102" cy="1877437"/>
          </a:xfrm>
          <a:prstGeom prst="rect">
            <a:avLst/>
          </a:prstGeom>
          <a:noFill/>
        </p:spPr>
        <p:txBody>
          <a:bodyPr wrap="square" rtlCol="0">
            <a:spAutoFit/>
          </a:bodyPr>
          <a:lstStyle/>
          <a:p>
            <a:pPr algn="ctr"/>
            <a:r>
              <a:rPr lang="en-US" b="1" dirty="0"/>
              <a:t>Interpretation:</a:t>
            </a:r>
          </a:p>
          <a:p>
            <a:pPr algn="ctr"/>
            <a:endParaRPr lang="en-US" b="1" dirty="0"/>
          </a:p>
          <a:p>
            <a:pPr marL="285750" indent="-285750">
              <a:buFont typeface="Arial" panose="020B0604020202020204" pitchFamily="34" charset="0"/>
              <a:buChar char="•"/>
            </a:pPr>
            <a:r>
              <a:rPr lang="en-US" sz="1600" dirty="0"/>
              <a:t>The percentage of satisfied and returned is only 20%, which means just 1 out of 5 customers are truly satisfied and returned their products. These customers may be from free subscription customers, whose get every advantage as like premium but they don’t get products as well they ordered</a:t>
            </a:r>
            <a:endParaRPr lang="en-US" dirty="0"/>
          </a:p>
        </p:txBody>
      </p:sp>
      <p:sp>
        <p:nvSpPr>
          <p:cNvPr id="5" name="TextBox 4">
            <a:extLst>
              <a:ext uri="{FF2B5EF4-FFF2-40B4-BE49-F238E27FC236}">
                <a16:creationId xmlns:a16="http://schemas.microsoft.com/office/drawing/2014/main" id="{12B0B0E7-11BB-543E-641F-43EC51ABF650}"/>
              </a:ext>
            </a:extLst>
          </p:cNvPr>
          <p:cNvSpPr txBox="1"/>
          <p:nvPr/>
        </p:nvSpPr>
        <p:spPr>
          <a:xfrm>
            <a:off x="5346629" y="3985206"/>
            <a:ext cx="6217103" cy="1200329"/>
          </a:xfrm>
          <a:prstGeom prst="rect">
            <a:avLst/>
          </a:prstGeom>
          <a:noFill/>
        </p:spPr>
        <p:txBody>
          <a:bodyPr wrap="square" rtlCol="0">
            <a:spAutoFit/>
          </a:bodyPr>
          <a:lstStyle/>
          <a:p>
            <a:pPr algn="ctr"/>
            <a:r>
              <a:rPr lang="en-US" dirty="0"/>
              <a:t>Recommendation:</a:t>
            </a:r>
          </a:p>
          <a:p>
            <a:endParaRPr lang="en-US" dirty="0"/>
          </a:p>
          <a:p>
            <a:pPr marL="285750" indent="-285750">
              <a:buFont typeface="Arial" panose="020B0604020202020204" pitchFamily="34" charset="0"/>
              <a:buChar char="•"/>
            </a:pPr>
            <a:r>
              <a:rPr lang="en-US" dirty="0"/>
              <a:t>Review product quality before and after delivery.</a:t>
            </a:r>
          </a:p>
          <a:p>
            <a:pPr marL="285750" indent="-285750">
              <a:buFont typeface="Arial" panose="020B0604020202020204" pitchFamily="34" charset="0"/>
              <a:buChar char="•"/>
            </a:pPr>
            <a:r>
              <a:rPr lang="en-US" dirty="0"/>
              <a:t>Launch a campaign to engage those unsatisfied customers.</a:t>
            </a:r>
          </a:p>
        </p:txBody>
      </p:sp>
    </p:spTree>
    <p:extLst>
      <p:ext uri="{BB962C8B-B14F-4D97-AF65-F5344CB8AC3E}">
        <p14:creationId xmlns:p14="http://schemas.microsoft.com/office/powerpoint/2010/main" val="30505686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072AC-2E49-A123-52DA-BFC3A11F94C2}"/>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672AB422-82EF-637E-05A7-8ED6DB6CA8AC}"/>
              </a:ext>
            </a:extLst>
          </p:cNvPr>
          <p:cNvSpPr/>
          <p:nvPr/>
        </p:nvSpPr>
        <p:spPr>
          <a:xfrm>
            <a:off x="319889" y="269341"/>
            <a:ext cx="11552222" cy="6319319"/>
          </a:xfrm>
          <a:prstGeom prst="roundRect">
            <a:avLst>
              <a:gd name="adj" fmla="val 1911"/>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4AD19FC-E135-1A22-2C56-75E3A6A002E1}"/>
              </a:ext>
            </a:extLst>
          </p:cNvPr>
          <p:cNvSpPr txBox="1"/>
          <p:nvPr/>
        </p:nvSpPr>
        <p:spPr>
          <a:xfrm>
            <a:off x="628267" y="565655"/>
            <a:ext cx="10598029" cy="369332"/>
          </a:xfrm>
          <a:prstGeom prst="rect">
            <a:avLst/>
          </a:prstGeom>
          <a:noFill/>
        </p:spPr>
        <p:txBody>
          <a:bodyPr wrap="square" rtlCol="0">
            <a:spAutoFit/>
          </a:bodyPr>
          <a:lstStyle/>
          <a:p>
            <a:r>
              <a:rPr lang="en-US" dirty="0"/>
              <a:t>Q4: What is the relationship between the number of items purchased and customer satisfaction?</a:t>
            </a:r>
          </a:p>
        </p:txBody>
      </p:sp>
      <p:pic>
        <p:nvPicPr>
          <p:cNvPr id="3" name="Picture 2">
            <a:extLst>
              <a:ext uri="{FF2B5EF4-FFF2-40B4-BE49-F238E27FC236}">
                <a16:creationId xmlns:a16="http://schemas.microsoft.com/office/drawing/2014/main" id="{CD428229-C9AE-44E9-FA91-32FFAAF99DFA}"/>
              </a:ext>
            </a:extLst>
          </p:cNvPr>
          <p:cNvPicPr>
            <a:picLocks noChangeAspect="1"/>
          </p:cNvPicPr>
          <p:nvPr/>
        </p:nvPicPr>
        <p:blipFill>
          <a:blip r:embed="rId2"/>
          <a:srcRect l="9880" t="8385" r="9364" b="3331"/>
          <a:stretch>
            <a:fillRect/>
          </a:stretch>
        </p:blipFill>
        <p:spPr>
          <a:xfrm>
            <a:off x="628267" y="1491558"/>
            <a:ext cx="4725909" cy="3874884"/>
          </a:xfrm>
          <a:prstGeom prst="rect">
            <a:avLst/>
          </a:prstGeom>
        </p:spPr>
      </p:pic>
      <p:sp>
        <p:nvSpPr>
          <p:cNvPr id="4" name="TextBox 3">
            <a:extLst>
              <a:ext uri="{FF2B5EF4-FFF2-40B4-BE49-F238E27FC236}">
                <a16:creationId xmlns:a16="http://schemas.microsoft.com/office/drawing/2014/main" id="{52101194-DFCD-171F-18B8-54E3DF58B25F}"/>
              </a:ext>
            </a:extLst>
          </p:cNvPr>
          <p:cNvSpPr txBox="1"/>
          <p:nvPr/>
        </p:nvSpPr>
        <p:spPr>
          <a:xfrm>
            <a:off x="5432079" y="1551562"/>
            <a:ext cx="6131652" cy="2031325"/>
          </a:xfrm>
          <a:prstGeom prst="rect">
            <a:avLst/>
          </a:prstGeom>
          <a:noFill/>
        </p:spPr>
        <p:txBody>
          <a:bodyPr wrap="square" rtlCol="0">
            <a:spAutoFit/>
          </a:bodyPr>
          <a:lstStyle/>
          <a:p>
            <a:pPr algn="ctr"/>
            <a:r>
              <a:rPr lang="en-US" b="1" dirty="0"/>
              <a:t>Interpretation:</a:t>
            </a:r>
          </a:p>
          <a:p>
            <a:pPr algn="ctr"/>
            <a:endParaRPr lang="en-US" b="1" dirty="0"/>
          </a:p>
          <a:p>
            <a:pPr marL="285750" indent="-285750">
              <a:buFont typeface="Arial" panose="020B0604020202020204" pitchFamily="34" charset="0"/>
              <a:buChar char="•"/>
            </a:pPr>
            <a:r>
              <a:rPr lang="en-US" dirty="0"/>
              <a:t>There is no relation between the number of items purchased and customer satisfaction. Which means:</a:t>
            </a:r>
          </a:p>
          <a:p>
            <a:pPr marL="285750" indent="-285750">
              <a:buFont typeface="Arial" panose="020B0604020202020204" pitchFamily="34" charset="0"/>
              <a:buChar char="•"/>
            </a:pPr>
            <a:r>
              <a:rPr lang="en-US" dirty="0"/>
              <a:t>The number of items doesn't increase customer satisfaction</a:t>
            </a:r>
          </a:p>
          <a:p>
            <a:pPr marL="285750" indent="-285750">
              <a:buFont typeface="Arial" panose="020B0604020202020204" pitchFamily="34" charset="0"/>
              <a:buChar char="•"/>
            </a:pPr>
            <a:r>
              <a:rPr lang="en-US" dirty="0"/>
              <a:t>Buying more doesn’t mean they’re happy</a:t>
            </a:r>
          </a:p>
        </p:txBody>
      </p:sp>
      <p:sp>
        <p:nvSpPr>
          <p:cNvPr id="5" name="TextBox 4">
            <a:extLst>
              <a:ext uri="{FF2B5EF4-FFF2-40B4-BE49-F238E27FC236}">
                <a16:creationId xmlns:a16="http://schemas.microsoft.com/office/drawing/2014/main" id="{A80F31FA-99A5-3DA9-DA86-74C9D5E45147}"/>
              </a:ext>
            </a:extLst>
          </p:cNvPr>
          <p:cNvSpPr txBox="1"/>
          <p:nvPr/>
        </p:nvSpPr>
        <p:spPr>
          <a:xfrm>
            <a:off x="5432079" y="4057633"/>
            <a:ext cx="6131653" cy="1754326"/>
          </a:xfrm>
          <a:prstGeom prst="rect">
            <a:avLst/>
          </a:prstGeom>
          <a:noFill/>
        </p:spPr>
        <p:txBody>
          <a:bodyPr wrap="square" rtlCol="0">
            <a:spAutoFit/>
          </a:bodyPr>
          <a:lstStyle/>
          <a:p>
            <a:pPr algn="ctr"/>
            <a:r>
              <a:rPr lang="en-US" dirty="0"/>
              <a:t>Recommendation:</a:t>
            </a:r>
          </a:p>
          <a:p>
            <a:endParaRPr lang="en-US" dirty="0"/>
          </a:p>
          <a:p>
            <a:pPr marL="285750" indent="-285750">
              <a:buFont typeface="Arial" panose="020B0604020202020204" pitchFamily="34" charset="0"/>
              <a:buChar char="•"/>
            </a:pPr>
            <a:r>
              <a:rPr lang="en-US" dirty="0"/>
              <a:t>Launch a survey system to reach every customer to know about why they are not satisfied with the service.</a:t>
            </a:r>
          </a:p>
          <a:p>
            <a:pPr marL="285750" indent="-285750">
              <a:buFont typeface="Arial" panose="020B0604020202020204" pitchFamily="34" charset="0"/>
              <a:buChar char="•"/>
            </a:pPr>
            <a:r>
              <a:rPr lang="en-US" dirty="0"/>
              <a:t>Give them discount offers for returning back to the platform</a:t>
            </a:r>
          </a:p>
        </p:txBody>
      </p:sp>
    </p:spTree>
    <p:extLst>
      <p:ext uri="{BB962C8B-B14F-4D97-AF65-F5344CB8AC3E}">
        <p14:creationId xmlns:p14="http://schemas.microsoft.com/office/powerpoint/2010/main" val="1349192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3BB37-0FB8-8CEC-5B89-6E0245C901E3}"/>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E354D391-BEE1-EBB0-573D-479C5A62526B}"/>
              </a:ext>
            </a:extLst>
          </p:cNvPr>
          <p:cNvSpPr/>
          <p:nvPr/>
        </p:nvSpPr>
        <p:spPr>
          <a:xfrm>
            <a:off x="319889" y="269341"/>
            <a:ext cx="11552222" cy="6319319"/>
          </a:xfrm>
          <a:prstGeom prst="roundRect">
            <a:avLst>
              <a:gd name="adj" fmla="val 1911"/>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590DE4A1-BF7C-0CBD-921E-0681BCC202A7}"/>
              </a:ext>
            </a:extLst>
          </p:cNvPr>
          <p:cNvSpPr txBox="1"/>
          <p:nvPr/>
        </p:nvSpPr>
        <p:spPr>
          <a:xfrm>
            <a:off x="628267" y="565655"/>
            <a:ext cx="10598029" cy="369332"/>
          </a:xfrm>
          <a:prstGeom prst="rect">
            <a:avLst/>
          </a:prstGeom>
          <a:noFill/>
        </p:spPr>
        <p:txBody>
          <a:bodyPr wrap="square" rtlCol="0">
            <a:spAutoFit/>
          </a:bodyPr>
          <a:lstStyle/>
          <a:p>
            <a:r>
              <a:rPr lang="en-US" dirty="0"/>
              <a:t>Q5: Which location has the 2nd highest average purchase amount?</a:t>
            </a:r>
          </a:p>
        </p:txBody>
      </p:sp>
      <p:pic>
        <p:nvPicPr>
          <p:cNvPr id="3" name="Picture 2">
            <a:extLst>
              <a:ext uri="{FF2B5EF4-FFF2-40B4-BE49-F238E27FC236}">
                <a16:creationId xmlns:a16="http://schemas.microsoft.com/office/drawing/2014/main" id="{FD2740C6-FF64-74AA-1159-63922AA13E34}"/>
              </a:ext>
            </a:extLst>
          </p:cNvPr>
          <p:cNvPicPr>
            <a:picLocks noChangeAspect="1"/>
          </p:cNvPicPr>
          <p:nvPr/>
        </p:nvPicPr>
        <p:blipFill>
          <a:blip r:embed="rId2"/>
          <a:srcRect l="2159" t="5446" r="9717" b="9010"/>
          <a:stretch>
            <a:fillRect/>
          </a:stretch>
        </p:blipFill>
        <p:spPr>
          <a:xfrm>
            <a:off x="3298774" y="1122659"/>
            <a:ext cx="5594452" cy="2792915"/>
          </a:xfrm>
          <a:prstGeom prst="rect">
            <a:avLst/>
          </a:prstGeom>
        </p:spPr>
      </p:pic>
      <p:sp>
        <p:nvSpPr>
          <p:cNvPr id="5" name="TextBox 4">
            <a:extLst>
              <a:ext uri="{FF2B5EF4-FFF2-40B4-BE49-F238E27FC236}">
                <a16:creationId xmlns:a16="http://schemas.microsoft.com/office/drawing/2014/main" id="{934B6ECD-AAC5-E5B4-AEC3-11E2A9BC51F0}"/>
              </a:ext>
            </a:extLst>
          </p:cNvPr>
          <p:cNvSpPr txBox="1"/>
          <p:nvPr/>
        </p:nvSpPr>
        <p:spPr>
          <a:xfrm>
            <a:off x="691641" y="4013773"/>
            <a:ext cx="10598030" cy="2123658"/>
          </a:xfrm>
          <a:prstGeom prst="rect">
            <a:avLst/>
          </a:prstGeom>
          <a:noFill/>
        </p:spPr>
        <p:txBody>
          <a:bodyPr wrap="square" rtlCol="0">
            <a:spAutoFit/>
          </a:bodyPr>
          <a:lstStyle/>
          <a:p>
            <a:pPr algn="ctr"/>
            <a:r>
              <a:rPr lang="en-US" b="1" dirty="0"/>
              <a:t>Interpretation:</a:t>
            </a:r>
          </a:p>
          <a:p>
            <a:endParaRPr lang="en-US" dirty="0"/>
          </a:p>
          <a:p>
            <a:pPr marL="285750" indent="-285750">
              <a:buFont typeface="Arial" panose="020B0604020202020204" pitchFamily="34" charset="0"/>
              <a:buChar char="•"/>
            </a:pPr>
            <a:r>
              <a:rPr lang="en-US" sz="1600" dirty="0"/>
              <a:t>Barisal, being the second-highest-performing location, indicates latent potential for targeted marketing and conversion strategies. This may be driven by specific product categories or a concentration of premium customers.</a:t>
            </a:r>
          </a:p>
          <a:p>
            <a:pPr marL="365760"/>
            <a:endParaRPr lang="en-US" sz="1600" dirty="0"/>
          </a:p>
          <a:p>
            <a:pPr marL="285750" indent="-285750">
              <a:buFont typeface="Arial" panose="020B0604020202020204" pitchFamily="34" charset="0"/>
              <a:buChar char="•"/>
            </a:pPr>
            <a:r>
              <a:rPr lang="en-US" sz="1600" dirty="0"/>
              <a:t>The spending difference between the non-discount group and customers from this location is approximately $11. This suggests that Barisal customers are not only motivated by discounts—they may be influenced by service quality, brand experience, or exclusive membership perks that encourage higher spending.</a:t>
            </a:r>
            <a:endParaRPr lang="en-US" dirty="0"/>
          </a:p>
        </p:txBody>
      </p:sp>
    </p:spTree>
    <p:extLst>
      <p:ext uri="{BB962C8B-B14F-4D97-AF65-F5344CB8AC3E}">
        <p14:creationId xmlns:p14="http://schemas.microsoft.com/office/powerpoint/2010/main" val="13578044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B896A-DC1B-F479-3B41-41EDCEDD825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9441847-FA4F-9A62-BC95-A997B48C7C89}"/>
              </a:ext>
            </a:extLst>
          </p:cNvPr>
          <p:cNvSpPr/>
          <p:nvPr/>
        </p:nvSpPr>
        <p:spPr>
          <a:xfrm>
            <a:off x="785397" y="786951"/>
            <a:ext cx="10621206" cy="5284098"/>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1290FD3-055B-FCC2-35CA-1BB179FF679E}"/>
              </a:ext>
            </a:extLst>
          </p:cNvPr>
          <p:cNvSpPr txBox="1"/>
          <p:nvPr/>
        </p:nvSpPr>
        <p:spPr>
          <a:xfrm>
            <a:off x="1334438" y="3013501"/>
            <a:ext cx="9523124" cy="830997"/>
          </a:xfrm>
          <a:prstGeom prst="rect">
            <a:avLst/>
          </a:prstGeom>
          <a:noFill/>
        </p:spPr>
        <p:txBody>
          <a:bodyPr wrap="square" rtlCol="0">
            <a:spAutoFit/>
          </a:bodyPr>
          <a:lstStyle/>
          <a:p>
            <a:pPr algn="ctr"/>
            <a:r>
              <a:rPr lang="en-US" sz="4800" b="1" u="dashLong" dirty="0"/>
              <a:t>Critical Thinking Insights</a:t>
            </a:r>
            <a:endParaRPr lang="en-US" sz="4800" u="dashLong" dirty="0"/>
          </a:p>
        </p:txBody>
      </p:sp>
    </p:spTree>
    <p:extLst>
      <p:ext uri="{BB962C8B-B14F-4D97-AF65-F5344CB8AC3E}">
        <p14:creationId xmlns:p14="http://schemas.microsoft.com/office/powerpoint/2010/main" val="8759251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BEFD4-3BE4-3E88-C38B-7FFA0479C357}"/>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FB48B579-BAE2-B4BF-8A4C-B23385741729}"/>
              </a:ext>
            </a:extLst>
          </p:cNvPr>
          <p:cNvSpPr/>
          <p:nvPr/>
        </p:nvSpPr>
        <p:spPr>
          <a:xfrm>
            <a:off x="319889" y="269341"/>
            <a:ext cx="11552222" cy="6319319"/>
          </a:xfrm>
          <a:prstGeom prst="roundRect">
            <a:avLst>
              <a:gd name="adj" fmla="val 1911"/>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4EB242A-D545-C62C-DA2A-25628C99F843}"/>
              </a:ext>
            </a:extLst>
          </p:cNvPr>
          <p:cNvSpPr txBox="1"/>
          <p:nvPr/>
        </p:nvSpPr>
        <p:spPr>
          <a:xfrm>
            <a:off x="628267" y="565655"/>
            <a:ext cx="10598029" cy="369332"/>
          </a:xfrm>
          <a:prstGeom prst="rect">
            <a:avLst/>
          </a:prstGeom>
          <a:noFill/>
        </p:spPr>
        <p:txBody>
          <a:bodyPr wrap="square" rtlCol="0">
            <a:spAutoFit/>
          </a:bodyPr>
          <a:lstStyle/>
          <a:p>
            <a:r>
              <a:rPr lang="en-US" dirty="0"/>
              <a:t>Q1: What factors contribute most to a customer being classified as a return customer?</a:t>
            </a:r>
          </a:p>
        </p:txBody>
      </p:sp>
      <p:pic>
        <p:nvPicPr>
          <p:cNvPr id="3" name="Picture 2">
            <a:extLst>
              <a:ext uri="{FF2B5EF4-FFF2-40B4-BE49-F238E27FC236}">
                <a16:creationId xmlns:a16="http://schemas.microsoft.com/office/drawing/2014/main" id="{2B2BE31B-ABEC-AD95-F731-C8BE592053A5}"/>
              </a:ext>
            </a:extLst>
          </p:cNvPr>
          <p:cNvPicPr>
            <a:picLocks noChangeAspect="1"/>
          </p:cNvPicPr>
          <p:nvPr/>
        </p:nvPicPr>
        <p:blipFill>
          <a:blip r:embed="rId2"/>
          <a:stretch>
            <a:fillRect/>
          </a:stretch>
        </p:blipFill>
        <p:spPr>
          <a:xfrm>
            <a:off x="628267" y="984587"/>
            <a:ext cx="3119982" cy="2330113"/>
          </a:xfrm>
          <a:prstGeom prst="rect">
            <a:avLst/>
          </a:prstGeom>
        </p:spPr>
      </p:pic>
      <p:pic>
        <p:nvPicPr>
          <p:cNvPr id="9" name="Picture 8">
            <a:extLst>
              <a:ext uri="{FF2B5EF4-FFF2-40B4-BE49-F238E27FC236}">
                <a16:creationId xmlns:a16="http://schemas.microsoft.com/office/drawing/2014/main" id="{5E46FFEE-A692-8839-9952-5248A44AD657}"/>
              </a:ext>
            </a:extLst>
          </p:cNvPr>
          <p:cNvPicPr>
            <a:picLocks noChangeAspect="1"/>
          </p:cNvPicPr>
          <p:nvPr/>
        </p:nvPicPr>
        <p:blipFill>
          <a:blip r:embed="rId3"/>
          <a:stretch>
            <a:fillRect/>
          </a:stretch>
        </p:blipFill>
        <p:spPr>
          <a:xfrm>
            <a:off x="4168983" y="984586"/>
            <a:ext cx="3119982" cy="2330113"/>
          </a:xfrm>
          <a:prstGeom prst="rect">
            <a:avLst/>
          </a:prstGeom>
        </p:spPr>
      </p:pic>
      <p:pic>
        <p:nvPicPr>
          <p:cNvPr id="11" name="Picture 10">
            <a:extLst>
              <a:ext uri="{FF2B5EF4-FFF2-40B4-BE49-F238E27FC236}">
                <a16:creationId xmlns:a16="http://schemas.microsoft.com/office/drawing/2014/main" id="{A38F705F-2B1A-311D-260F-1A7C51A76AB5}"/>
              </a:ext>
            </a:extLst>
          </p:cNvPr>
          <p:cNvPicPr>
            <a:picLocks noChangeAspect="1"/>
          </p:cNvPicPr>
          <p:nvPr/>
        </p:nvPicPr>
        <p:blipFill>
          <a:blip r:embed="rId4"/>
          <a:stretch>
            <a:fillRect/>
          </a:stretch>
        </p:blipFill>
        <p:spPr>
          <a:xfrm>
            <a:off x="7709699" y="984586"/>
            <a:ext cx="3905901" cy="2330113"/>
          </a:xfrm>
          <a:prstGeom prst="rect">
            <a:avLst/>
          </a:prstGeom>
        </p:spPr>
      </p:pic>
      <p:sp>
        <p:nvSpPr>
          <p:cNvPr id="14" name="Rectangle 13">
            <a:extLst>
              <a:ext uri="{FF2B5EF4-FFF2-40B4-BE49-F238E27FC236}">
                <a16:creationId xmlns:a16="http://schemas.microsoft.com/office/drawing/2014/main" id="{224A8480-020D-16EC-4E62-1D57EB7A9830}"/>
              </a:ext>
            </a:extLst>
          </p:cNvPr>
          <p:cNvSpPr/>
          <p:nvPr/>
        </p:nvSpPr>
        <p:spPr>
          <a:xfrm>
            <a:off x="9920287" y="1706045"/>
            <a:ext cx="1071563" cy="56566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16" name="Rectangle 15">
            <a:extLst>
              <a:ext uri="{FF2B5EF4-FFF2-40B4-BE49-F238E27FC236}">
                <a16:creationId xmlns:a16="http://schemas.microsoft.com/office/drawing/2014/main" id="{64D3FA4F-797D-EB10-FC85-733990DBEF2C}"/>
              </a:ext>
            </a:extLst>
          </p:cNvPr>
          <p:cNvSpPr/>
          <p:nvPr/>
        </p:nvSpPr>
        <p:spPr>
          <a:xfrm>
            <a:off x="10929938" y="2106846"/>
            <a:ext cx="534647" cy="86495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17" name="TextBox 16">
            <a:extLst>
              <a:ext uri="{FF2B5EF4-FFF2-40B4-BE49-F238E27FC236}">
                <a16:creationId xmlns:a16="http://schemas.microsoft.com/office/drawing/2014/main" id="{727AE977-884F-460D-E101-05B7AEA04AFB}"/>
              </a:ext>
            </a:extLst>
          </p:cNvPr>
          <p:cNvSpPr txBox="1"/>
          <p:nvPr/>
        </p:nvSpPr>
        <p:spPr>
          <a:xfrm>
            <a:off x="628266" y="3631773"/>
            <a:ext cx="10987333" cy="2616101"/>
          </a:xfrm>
          <a:prstGeom prst="rect">
            <a:avLst/>
          </a:prstGeom>
          <a:noFill/>
        </p:spPr>
        <p:txBody>
          <a:bodyPr wrap="square" rtlCol="0">
            <a:spAutoFit/>
          </a:bodyPr>
          <a:lstStyle/>
          <a:p>
            <a:pPr algn="ctr"/>
            <a:r>
              <a:rPr lang="en-US" b="1" dirty="0"/>
              <a:t>Interpretation:</a:t>
            </a:r>
          </a:p>
          <a:p>
            <a:pPr algn="ctr"/>
            <a:endParaRPr lang="en-US" b="1" dirty="0"/>
          </a:p>
          <a:p>
            <a:r>
              <a:rPr lang="en-US" sz="1600" b="1" dirty="0"/>
              <a:t>1. Product Categories:</a:t>
            </a:r>
            <a:br>
              <a:rPr lang="en-US" sz="1600" dirty="0"/>
            </a:br>
            <a:r>
              <a:rPr lang="en-US" sz="1600" dirty="0"/>
              <a:t>	Electronics, Clothing, and Toys have the highest return rates. Electronics are sensitive, and quality issues in Toys may 	lead to customer dissatisfaction, increasing returns.</a:t>
            </a:r>
          </a:p>
          <a:p>
            <a:r>
              <a:rPr lang="en-US" sz="1600" b="1" dirty="0"/>
              <a:t>2. Satisfaction Score:</a:t>
            </a:r>
            <a:br>
              <a:rPr lang="en-US" sz="1600" dirty="0"/>
            </a:br>
            <a:r>
              <a:rPr lang="en-US" sz="1600" dirty="0"/>
              <a:t>	Customers with low to medium satisfaction scores are more likely to return, showing their expectations weren’t met.</a:t>
            </a:r>
          </a:p>
          <a:p>
            <a:r>
              <a:rPr lang="en-US" sz="1600" b="1" dirty="0"/>
              <a:t>3. Website Experience:</a:t>
            </a:r>
            <a:br>
              <a:rPr lang="en-US" sz="1600" dirty="0"/>
            </a:br>
            <a:r>
              <a:rPr lang="en-US" sz="1600" dirty="0"/>
              <a:t>	Many returned customers spent more time on the site, especially desktop users. This may suggest poor user experience 	or unclear value between free and premium plans.</a:t>
            </a:r>
            <a:endParaRPr lang="en-US" dirty="0"/>
          </a:p>
        </p:txBody>
      </p:sp>
    </p:spTree>
    <p:extLst>
      <p:ext uri="{BB962C8B-B14F-4D97-AF65-F5344CB8AC3E}">
        <p14:creationId xmlns:p14="http://schemas.microsoft.com/office/powerpoint/2010/main" val="32910093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55711-CBBE-73C3-9AC8-EEE31A34696C}"/>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F27E07C1-85E1-41C6-714E-7440ED8EBFB2}"/>
              </a:ext>
            </a:extLst>
          </p:cNvPr>
          <p:cNvSpPr/>
          <p:nvPr/>
        </p:nvSpPr>
        <p:spPr>
          <a:xfrm>
            <a:off x="319889" y="269341"/>
            <a:ext cx="11552222" cy="6319319"/>
          </a:xfrm>
          <a:prstGeom prst="roundRect">
            <a:avLst>
              <a:gd name="adj" fmla="val 1911"/>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0D708C9-5C20-2F2C-437D-8613987D16D9}"/>
              </a:ext>
            </a:extLst>
          </p:cNvPr>
          <p:cNvSpPr txBox="1"/>
          <p:nvPr/>
        </p:nvSpPr>
        <p:spPr>
          <a:xfrm>
            <a:off x="628267" y="565655"/>
            <a:ext cx="10598029" cy="369332"/>
          </a:xfrm>
          <a:prstGeom prst="rect">
            <a:avLst/>
          </a:prstGeom>
          <a:noFill/>
        </p:spPr>
        <p:txBody>
          <a:bodyPr wrap="square" rtlCol="0">
            <a:spAutoFit/>
          </a:bodyPr>
          <a:lstStyle/>
          <a:p>
            <a:r>
              <a:rPr lang="en-US" dirty="0"/>
              <a:t>Q2: How do payment methods influence customer satisfaction and return rates?</a:t>
            </a:r>
          </a:p>
        </p:txBody>
      </p:sp>
      <p:pic>
        <p:nvPicPr>
          <p:cNvPr id="3" name="Picture 2">
            <a:extLst>
              <a:ext uri="{FF2B5EF4-FFF2-40B4-BE49-F238E27FC236}">
                <a16:creationId xmlns:a16="http://schemas.microsoft.com/office/drawing/2014/main" id="{CFA6D8F0-3419-3A87-B1F7-C5478DA07F72}"/>
              </a:ext>
            </a:extLst>
          </p:cNvPr>
          <p:cNvPicPr>
            <a:picLocks noChangeAspect="1"/>
          </p:cNvPicPr>
          <p:nvPr/>
        </p:nvPicPr>
        <p:blipFill>
          <a:blip r:embed="rId2"/>
          <a:stretch>
            <a:fillRect/>
          </a:stretch>
        </p:blipFill>
        <p:spPr>
          <a:xfrm>
            <a:off x="3365394" y="1049287"/>
            <a:ext cx="5123773" cy="3054949"/>
          </a:xfrm>
          <a:prstGeom prst="rect">
            <a:avLst/>
          </a:prstGeom>
        </p:spPr>
      </p:pic>
      <p:sp>
        <p:nvSpPr>
          <p:cNvPr id="4" name="TextBox 3">
            <a:extLst>
              <a:ext uri="{FF2B5EF4-FFF2-40B4-BE49-F238E27FC236}">
                <a16:creationId xmlns:a16="http://schemas.microsoft.com/office/drawing/2014/main" id="{46044118-B484-3130-465F-E5704F50B62F}"/>
              </a:ext>
            </a:extLst>
          </p:cNvPr>
          <p:cNvSpPr txBox="1"/>
          <p:nvPr/>
        </p:nvSpPr>
        <p:spPr>
          <a:xfrm>
            <a:off x="628267" y="4264076"/>
            <a:ext cx="10987333" cy="2031325"/>
          </a:xfrm>
          <a:prstGeom prst="rect">
            <a:avLst/>
          </a:prstGeom>
          <a:noFill/>
        </p:spPr>
        <p:txBody>
          <a:bodyPr wrap="square" rtlCol="0">
            <a:spAutoFit/>
          </a:bodyPr>
          <a:lstStyle/>
          <a:p>
            <a:r>
              <a:rPr lang="en-US" b="1" dirty="0"/>
              <a:t>Payment methods deeply influence customer satisfaction and return rates. like:</a:t>
            </a:r>
          </a:p>
          <a:p>
            <a:pPr marL="285750" indent="-285750">
              <a:buFont typeface="Arial" panose="020B0604020202020204" pitchFamily="34" charset="0"/>
              <a:buChar char="•"/>
            </a:pPr>
            <a:r>
              <a:rPr lang="en-US" b="1" dirty="0"/>
              <a:t>Except for credit card and PayPal users, for every payment method, there are higher average satisfaction scores for non-returned customers than returned. That indicated that most people are not returning for only the payment method; they have another reason. That should be delivery issues like time and quality of products.</a:t>
            </a:r>
          </a:p>
          <a:p>
            <a:pPr marL="285750" indent="-285750">
              <a:buFont typeface="Arial" panose="020B0604020202020204" pitchFamily="34" charset="0"/>
              <a:buChar char="•"/>
            </a:pPr>
            <a:r>
              <a:rPr lang="en-US" b="1" dirty="0"/>
              <a:t>In both cases the cash-on-delivery satisfaction score is very low. Which means this payment system has to improve and find out why it is actually performing badly.</a:t>
            </a:r>
            <a:endParaRPr lang="en-US" dirty="0"/>
          </a:p>
        </p:txBody>
      </p:sp>
    </p:spTree>
    <p:extLst>
      <p:ext uri="{BB962C8B-B14F-4D97-AF65-F5344CB8AC3E}">
        <p14:creationId xmlns:p14="http://schemas.microsoft.com/office/powerpoint/2010/main" val="39865876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BDD2F-5F08-7F19-3276-539088112EE6}"/>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59E93B07-74DF-E98C-AB55-F079740E6BAD}"/>
              </a:ext>
            </a:extLst>
          </p:cNvPr>
          <p:cNvSpPr/>
          <p:nvPr/>
        </p:nvSpPr>
        <p:spPr>
          <a:xfrm>
            <a:off x="319889" y="269341"/>
            <a:ext cx="11552222" cy="6319319"/>
          </a:xfrm>
          <a:prstGeom prst="roundRect">
            <a:avLst>
              <a:gd name="adj" fmla="val 1911"/>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A423C3F-DDB3-DEE7-62E4-02CBED4665A5}"/>
              </a:ext>
            </a:extLst>
          </p:cNvPr>
          <p:cNvSpPr txBox="1"/>
          <p:nvPr/>
        </p:nvSpPr>
        <p:spPr>
          <a:xfrm>
            <a:off x="628267" y="565655"/>
            <a:ext cx="10598029" cy="369332"/>
          </a:xfrm>
          <a:prstGeom prst="rect">
            <a:avLst/>
          </a:prstGeom>
          <a:noFill/>
        </p:spPr>
        <p:txBody>
          <a:bodyPr wrap="square" rtlCol="0">
            <a:spAutoFit/>
          </a:bodyPr>
          <a:lstStyle/>
          <a:p>
            <a:r>
              <a:rPr lang="en-US" dirty="0"/>
              <a:t>Q3: How does the location influence both purchase amount and delivery time?</a:t>
            </a:r>
          </a:p>
        </p:txBody>
      </p:sp>
      <p:pic>
        <p:nvPicPr>
          <p:cNvPr id="3" name="Picture 2">
            <a:extLst>
              <a:ext uri="{FF2B5EF4-FFF2-40B4-BE49-F238E27FC236}">
                <a16:creationId xmlns:a16="http://schemas.microsoft.com/office/drawing/2014/main" id="{8CD1C581-B018-1C84-DB7F-A41AB91A58E1}"/>
              </a:ext>
            </a:extLst>
          </p:cNvPr>
          <p:cNvPicPr>
            <a:picLocks noChangeAspect="1"/>
          </p:cNvPicPr>
          <p:nvPr/>
        </p:nvPicPr>
        <p:blipFill>
          <a:blip r:embed="rId2"/>
          <a:srcRect b="70641"/>
          <a:stretch>
            <a:fillRect/>
          </a:stretch>
        </p:blipFill>
        <p:spPr>
          <a:xfrm>
            <a:off x="673532" y="1087016"/>
            <a:ext cx="4728221" cy="1375197"/>
          </a:xfrm>
          <a:prstGeom prst="rect">
            <a:avLst/>
          </a:prstGeom>
        </p:spPr>
      </p:pic>
      <p:pic>
        <p:nvPicPr>
          <p:cNvPr id="5" name="Picture 4">
            <a:extLst>
              <a:ext uri="{FF2B5EF4-FFF2-40B4-BE49-F238E27FC236}">
                <a16:creationId xmlns:a16="http://schemas.microsoft.com/office/drawing/2014/main" id="{14CB3548-D15E-B959-4442-71A290FB2254}"/>
              </a:ext>
            </a:extLst>
          </p:cNvPr>
          <p:cNvPicPr>
            <a:picLocks noChangeAspect="1"/>
          </p:cNvPicPr>
          <p:nvPr/>
        </p:nvPicPr>
        <p:blipFill>
          <a:blip r:embed="rId2"/>
          <a:srcRect l="1612" t="29166" b="48056"/>
          <a:stretch>
            <a:fillRect/>
          </a:stretch>
        </p:blipFill>
        <p:spPr>
          <a:xfrm>
            <a:off x="5473551" y="1087016"/>
            <a:ext cx="5996216" cy="1375197"/>
          </a:xfrm>
          <a:prstGeom prst="rect">
            <a:avLst/>
          </a:prstGeom>
        </p:spPr>
      </p:pic>
      <p:pic>
        <p:nvPicPr>
          <p:cNvPr id="9" name="Picture 8">
            <a:extLst>
              <a:ext uri="{FF2B5EF4-FFF2-40B4-BE49-F238E27FC236}">
                <a16:creationId xmlns:a16="http://schemas.microsoft.com/office/drawing/2014/main" id="{3646BB06-35F5-0939-B038-9EFA6FFA1290}"/>
              </a:ext>
            </a:extLst>
          </p:cNvPr>
          <p:cNvPicPr>
            <a:picLocks noChangeAspect="1"/>
          </p:cNvPicPr>
          <p:nvPr/>
        </p:nvPicPr>
        <p:blipFill>
          <a:blip r:embed="rId2"/>
          <a:srcRect t="52013" b="25016"/>
          <a:stretch>
            <a:fillRect/>
          </a:stretch>
        </p:blipFill>
        <p:spPr>
          <a:xfrm>
            <a:off x="673532" y="2492236"/>
            <a:ext cx="4728221" cy="1412367"/>
          </a:xfrm>
          <a:prstGeom prst="rect">
            <a:avLst/>
          </a:prstGeom>
        </p:spPr>
      </p:pic>
      <p:pic>
        <p:nvPicPr>
          <p:cNvPr id="11" name="Picture 10">
            <a:extLst>
              <a:ext uri="{FF2B5EF4-FFF2-40B4-BE49-F238E27FC236}">
                <a16:creationId xmlns:a16="http://schemas.microsoft.com/office/drawing/2014/main" id="{1A14C5E0-1C95-686D-AC80-5E65E3879C97}"/>
              </a:ext>
            </a:extLst>
          </p:cNvPr>
          <p:cNvPicPr>
            <a:picLocks noChangeAspect="1"/>
          </p:cNvPicPr>
          <p:nvPr/>
        </p:nvPicPr>
        <p:blipFill>
          <a:blip r:embed="rId2"/>
          <a:srcRect l="1699" t="74720" b="1711"/>
          <a:stretch>
            <a:fillRect/>
          </a:stretch>
        </p:blipFill>
        <p:spPr>
          <a:xfrm>
            <a:off x="5473551" y="2480319"/>
            <a:ext cx="5996216" cy="1424284"/>
          </a:xfrm>
          <a:prstGeom prst="rect">
            <a:avLst/>
          </a:prstGeom>
        </p:spPr>
      </p:pic>
      <p:sp>
        <p:nvSpPr>
          <p:cNvPr id="12" name="TextBox 11">
            <a:extLst>
              <a:ext uri="{FF2B5EF4-FFF2-40B4-BE49-F238E27FC236}">
                <a16:creationId xmlns:a16="http://schemas.microsoft.com/office/drawing/2014/main" id="{044409EB-4845-BA20-509C-5098FC2369B2}"/>
              </a:ext>
            </a:extLst>
          </p:cNvPr>
          <p:cNvSpPr txBox="1"/>
          <p:nvPr/>
        </p:nvSpPr>
        <p:spPr>
          <a:xfrm>
            <a:off x="602333" y="3938568"/>
            <a:ext cx="10987333" cy="2585323"/>
          </a:xfrm>
          <a:prstGeom prst="rect">
            <a:avLst/>
          </a:prstGeom>
          <a:noFill/>
        </p:spPr>
        <p:txBody>
          <a:bodyPr wrap="square" rtlCol="0">
            <a:spAutoFit/>
          </a:bodyPr>
          <a:lstStyle/>
          <a:p>
            <a:pPr algn="ctr"/>
            <a:r>
              <a:rPr lang="en-US" dirty="0"/>
              <a:t>Interpretation:</a:t>
            </a:r>
          </a:p>
          <a:p>
            <a:r>
              <a:rPr lang="en-US" dirty="0"/>
              <a:t>Barisal, Khulna, and Sylhet show relatively higher purchase amounts at longer delivery times (10–13 days).</a:t>
            </a:r>
          </a:p>
          <a:p>
            <a:r>
              <a:rPr lang="en-US" dirty="0"/>
              <a:t>Rangpur and Mymensingh has lower overall purchase amounts regardless of delivery time</a:t>
            </a:r>
          </a:p>
          <a:p>
            <a:endParaRPr lang="en-US" dirty="0"/>
          </a:p>
          <a:p>
            <a:pPr algn="ctr"/>
            <a:r>
              <a:rPr lang="en-US" dirty="0"/>
              <a:t>Recommendations:</a:t>
            </a:r>
          </a:p>
          <a:p>
            <a:r>
              <a:rPr lang="en-US" dirty="0"/>
              <a:t>Focus Fast-Delivery Optimization in High-Spending Regions like Barisal, Khulna, and Sylhet</a:t>
            </a:r>
          </a:p>
          <a:p>
            <a:r>
              <a:rPr lang="en-US" dirty="0"/>
              <a:t>Also, focus on premium customers for fast delivery.</a:t>
            </a:r>
          </a:p>
          <a:p>
            <a:r>
              <a:rPr lang="en-US" dirty="0"/>
              <a:t>As fast delivery ≠ higher spend across all locations, don’t over-invest in fast delivery universally. Invest in a strategic location-wise logistic system. </a:t>
            </a:r>
          </a:p>
        </p:txBody>
      </p:sp>
    </p:spTree>
    <p:extLst>
      <p:ext uri="{BB962C8B-B14F-4D97-AF65-F5344CB8AC3E}">
        <p14:creationId xmlns:p14="http://schemas.microsoft.com/office/powerpoint/2010/main" val="7639437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C1DB6-E94C-F59C-D334-73451ECD5B99}"/>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C178B522-B62C-4147-DA44-3DF0D3FCAE14}"/>
              </a:ext>
            </a:extLst>
          </p:cNvPr>
          <p:cNvSpPr/>
          <p:nvPr/>
        </p:nvSpPr>
        <p:spPr>
          <a:xfrm>
            <a:off x="319889" y="269341"/>
            <a:ext cx="11552222" cy="6319319"/>
          </a:xfrm>
          <a:prstGeom prst="roundRect">
            <a:avLst>
              <a:gd name="adj" fmla="val 1911"/>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59A5B714-7FFA-7E7C-7909-C909CF7A0E12}"/>
              </a:ext>
            </a:extLst>
          </p:cNvPr>
          <p:cNvSpPr txBox="1"/>
          <p:nvPr/>
        </p:nvSpPr>
        <p:spPr>
          <a:xfrm>
            <a:off x="588756" y="582923"/>
            <a:ext cx="10598029" cy="369332"/>
          </a:xfrm>
          <a:prstGeom prst="rect">
            <a:avLst/>
          </a:prstGeom>
          <a:noFill/>
        </p:spPr>
        <p:txBody>
          <a:bodyPr wrap="square" rtlCol="0">
            <a:spAutoFit/>
          </a:bodyPr>
          <a:lstStyle/>
          <a:p>
            <a:r>
              <a:rPr lang="en-US" dirty="0"/>
              <a:t>Q4: What major insights are found? Give a proper explanation.</a:t>
            </a:r>
          </a:p>
        </p:txBody>
      </p:sp>
      <p:sp>
        <p:nvSpPr>
          <p:cNvPr id="2" name="TextBox 1">
            <a:extLst>
              <a:ext uri="{FF2B5EF4-FFF2-40B4-BE49-F238E27FC236}">
                <a16:creationId xmlns:a16="http://schemas.microsoft.com/office/drawing/2014/main" id="{618FF793-0818-014E-8C3F-5254E61C1A94}"/>
              </a:ext>
            </a:extLst>
          </p:cNvPr>
          <p:cNvSpPr txBox="1"/>
          <p:nvPr/>
        </p:nvSpPr>
        <p:spPr>
          <a:xfrm>
            <a:off x="588756" y="1231301"/>
            <a:ext cx="11014489" cy="5355312"/>
          </a:xfrm>
          <a:prstGeom prst="rect">
            <a:avLst/>
          </a:prstGeom>
          <a:noFill/>
        </p:spPr>
        <p:txBody>
          <a:bodyPr wrap="square" rtlCol="0">
            <a:spAutoFit/>
          </a:bodyPr>
          <a:lstStyle/>
          <a:p>
            <a:pPr marL="285750" indent="-285750">
              <a:buFont typeface="Arial" panose="020B0604020202020204" pitchFamily="34" charset="0"/>
              <a:buChar char="•"/>
            </a:pPr>
            <a:r>
              <a:rPr lang="en-US" dirty="0"/>
              <a:t>A large number of customers are middle-aged. To maximize engagement and sales, focus marketing efforts on promoting products they like</a:t>
            </a:r>
          </a:p>
          <a:p>
            <a:pPr marL="285750" indent="-285750">
              <a:buFont typeface="Arial" panose="020B0604020202020204" pitchFamily="34" charset="0"/>
              <a:buChar char="•"/>
            </a:pPr>
            <a:r>
              <a:rPr lang="en-US" dirty="0"/>
              <a:t>Always focus on inventory for these top 3 categories ('Electronics, 'Clothing,' and 'Toys') and promote combo offer with bottom 3 categories ('Beauty, 'Groceries,' and 'Sports')</a:t>
            </a:r>
          </a:p>
          <a:p>
            <a:pPr marL="285750" indent="-285750">
              <a:buFont typeface="Arial" panose="020B0604020202020204" pitchFamily="34" charset="0"/>
              <a:buChar char="•"/>
            </a:pPr>
            <a:r>
              <a:rPr lang="en-US" dirty="0"/>
              <a:t>Focus on improving delivery time, especially for premium members, and give some extra advantages to them. Because customers are unlikely to subscribe to premium unless they see real value.</a:t>
            </a:r>
          </a:p>
          <a:p>
            <a:pPr marL="285750" indent="-285750">
              <a:buFont typeface="Arial" panose="020B0604020202020204" pitchFamily="34" charset="0"/>
              <a:buChar char="•"/>
            </a:pPr>
            <a:r>
              <a:rPr lang="en-US" dirty="0"/>
              <a:t>Improve UI/UX in every tech device for longer usability and better performance.</a:t>
            </a:r>
          </a:p>
          <a:p>
            <a:pPr marL="285750" indent="-285750">
              <a:buFont typeface="Arial" panose="020B0604020202020204" pitchFamily="34" charset="0"/>
              <a:buChar char="•"/>
            </a:pPr>
            <a:r>
              <a:rPr lang="en-US" dirty="0"/>
              <a:t>Discounts don't increase orders so focus on customers actual needs, like short delivery time, quality of products etc.</a:t>
            </a:r>
          </a:p>
          <a:p>
            <a:pPr marL="285750" indent="-285750">
              <a:buFont typeface="Arial" panose="020B0604020202020204" pitchFamily="34" charset="0"/>
              <a:buChar char="•"/>
            </a:pPr>
            <a:r>
              <a:rPr lang="en-US" dirty="0"/>
              <a:t>There is a large lack in the delivery system. Cash on delivery has low performance in both satisfaction score and review score. Talk with the logistic team to improve the lack. Review product quality before and after delivery.</a:t>
            </a:r>
          </a:p>
          <a:p>
            <a:pPr marL="285750" indent="-285750">
              <a:buFont typeface="Arial" panose="020B0604020202020204" pitchFamily="34" charset="0"/>
              <a:buChar char="•"/>
            </a:pPr>
            <a:r>
              <a:rPr lang="en-US" dirty="0"/>
              <a:t>Improve product recommendations on the website and add some smart features to make them feel great.</a:t>
            </a:r>
          </a:p>
          <a:p>
            <a:pPr marL="285750" indent="-285750">
              <a:buFont typeface="Arial" panose="020B0604020202020204" pitchFamily="34" charset="0"/>
              <a:buChar char="•"/>
            </a:pPr>
            <a:r>
              <a:rPr lang="en-US" dirty="0"/>
              <a:t>Almost 50% of customers have returned. Improve lacking things and focus to increase satisfaction score and review score. Launching an offer doesn't increase orders but may increase the satisfaction score and review score. </a:t>
            </a:r>
          </a:p>
          <a:p>
            <a:pPr marL="285750" indent="-285750">
              <a:buFont typeface="Arial" panose="020B0604020202020204" pitchFamily="34" charset="0"/>
              <a:buChar char="•"/>
            </a:pPr>
            <a:r>
              <a:rPr lang="en-US" dirty="0"/>
              <a:t>Fast-delivering in high-spending regions like Barisal, Khulna, and Sylhet. Also improve lacks in lower spending areas. </a:t>
            </a:r>
          </a:p>
          <a:p>
            <a:endParaRPr lang="en-US" dirty="0"/>
          </a:p>
        </p:txBody>
      </p:sp>
    </p:spTree>
    <p:extLst>
      <p:ext uri="{BB962C8B-B14F-4D97-AF65-F5344CB8AC3E}">
        <p14:creationId xmlns:p14="http://schemas.microsoft.com/office/powerpoint/2010/main" val="6673143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EB32B-CA1D-5DFD-AF17-BD2D286032C4}"/>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8E3553A2-B903-F245-BC9C-EA334D3A9A98}"/>
              </a:ext>
            </a:extLst>
          </p:cNvPr>
          <p:cNvSpPr/>
          <p:nvPr/>
        </p:nvSpPr>
        <p:spPr>
          <a:xfrm>
            <a:off x="319889" y="269341"/>
            <a:ext cx="11552222" cy="6319319"/>
          </a:xfrm>
          <a:prstGeom prst="roundRect">
            <a:avLst>
              <a:gd name="adj" fmla="val 1911"/>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E125F9E0-03BD-9B50-E79C-DDD4EF41EDD9}"/>
              </a:ext>
            </a:extLst>
          </p:cNvPr>
          <p:cNvSpPr txBox="1"/>
          <p:nvPr/>
        </p:nvSpPr>
        <p:spPr>
          <a:xfrm>
            <a:off x="2408502" y="964007"/>
            <a:ext cx="7374996" cy="461665"/>
          </a:xfrm>
          <a:prstGeom prst="rect">
            <a:avLst/>
          </a:prstGeom>
          <a:noFill/>
        </p:spPr>
        <p:txBody>
          <a:bodyPr wrap="square" rtlCol="0">
            <a:spAutoFit/>
          </a:bodyPr>
          <a:lstStyle/>
          <a:p>
            <a:pPr algn="ctr"/>
            <a:r>
              <a:rPr lang="en-US" sz="2400" b="1" dirty="0"/>
              <a:t>Conclusion:</a:t>
            </a:r>
            <a:endParaRPr lang="en-US" sz="2400" dirty="0"/>
          </a:p>
        </p:txBody>
      </p:sp>
      <p:sp>
        <p:nvSpPr>
          <p:cNvPr id="2" name="TextBox 1">
            <a:extLst>
              <a:ext uri="{FF2B5EF4-FFF2-40B4-BE49-F238E27FC236}">
                <a16:creationId xmlns:a16="http://schemas.microsoft.com/office/drawing/2014/main" id="{E221C658-2E04-1D02-C366-57DFDC7E8B86}"/>
              </a:ext>
            </a:extLst>
          </p:cNvPr>
          <p:cNvSpPr txBox="1"/>
          <p:nvPr/>
        </p:nvSpPr>
        <p:spPr>
          <a:xfrm>
            <a:off x="628267" y="1736791"/>
            <a:ext cx="10987333" cy="3139321"/>
          </a:xfrm>
          <a:prstGeom prst="rect">
            <a:avLst/>
          </a:prstGeom>
          <a:noFill/>
        </p:spPr>
        <p:txBody>
          <a:bodyPr wrap="square" rtlCol="0">
            <a:spAutoFit/>
          </a:bodyPr>
          <a:lstStyle/>
          <a:p>
            <a:r>
              <a:rPr lang="en-US" dirty="0"/>
              <a:t>This e-commerce customer behavior analysis reveals several important insights. The average customer age is around 44, indicating a mid-aged target demographic, with 51 being the most frequent age. Electronics, Clothing, and Toys are the most purchased categories, suggesting where inventory and promotions should be focused. Mobile, Desktop, and Tablet usage are almost evenly split, highlighting the need for a seamless multi-device user experience. Although premium subscribers receive faster deliveries, the majority of customers are non-subscribers, suggesting untapped potential in converting them. Discount availing has a minor impact on average purchase amount, showing quality or convenience may matter more than price. Customer satisfaction remains low (20%) with a neutral average review score of 3.0, indicating a service or product experience gap. Bank transfers are the most used payment method, but cash-on-delivery users provide slightly better reviews. Finally, there's negligible correlation between time spent on the site or number of items purchased and satisfaction, signaling a need to focus on user journey improvements and post-purchase experience.</a:t>
            </a:r>
          </a:p>
        </p:txBody>
      </p:sp>
    </p:spTree>
    <p:extLst>
      <p:ext uri="{BB962C8B-B14F-4D97-AF65-F5344CB8AC3E}">
        <p14:creationId xmlns:p14="http://schemas.microsoft.com/office/powerpoint/2010/main" val="108526045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TM04033929[[fn=Slate]]</Template>
  <TotalTime>1134</TotalTime>
  <Words>2824</Words>
  <Application>Microsoft Office PowerPoint</Application>
  <PresentationFormat>Widescreen</PresentationFormat>
  <Paragraphs>196</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Calisto MT</vt:lpstr>
      <vt:lpstr>Wingdings</vt:lpstr>
      <vt:lpstr>Wingdings 2</vt:lpstr>
      <vt:lpstr>Slate</vt:lpstr>
      <vt:lpstr>E-Commerce  Customer Behavior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Sakib Ahmed</dc:creator>
  <cp:lastModifiedBy>Sakib Ahmed</cp:lastModifiedBy>
  <cp:revision>338</cp:revision>
  <dcterms:created xsi:type="dcterms:W3CDTF">2025-07-25T22:09:37Z</dcterms:created>
  <dcterms:modified xsi:type="dcterms:W3CDTF">2025-08-04T13:32:17Z</dcterms:modified>
</cp:coreProperties>
</file>